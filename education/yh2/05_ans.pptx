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3"/>
  </p:notesMasterIdLst>
  <p:handoutMasterIdLst>
    <p:handoutMasterId r:id="rId14"/>
  </p:handoutMasterIdLst>
  <p:sldIdLst>
    <p:sldId id="340" r:id="rId2"/>
    <p:sldId id="336" r:id="rId3"/>
    <p:sldId id="341" r:id="rId4"/>
    <p:sldId id="337" r:id="rId5"/>
    <p:sldId id="342" r:id="rId6"/>
    <p:sldId id="338" r:id="rId7"/>
    <p:sldId id="343" r:id="rId8"/>
    <p:sldId id="304" r:id="rId9"/>
    <p:sldId id="329" r:id="rId10"/>
    <p:sldId id="316" r:id="rId11"/>
    <p:sldId id="331" r:id="rId12"/>
  </p:sldIdLst>
  <p:sldSz cx="9144000" cy="6858000" type="screen4x3"/>
  <p:notesSz cx="6805613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11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31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2" d="100"/>
          <a:sy n="122" d="100"/>
        </p:scale>
        <p:origin x="-1230" y="-84"/>
      </p:cViewPr>
      <p:guideLst>
        <p:guide orient="horz" pos="2160"/>
        <p:guide orient="horz" pos="211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71" d="100"/>
          <a:sy n="71" d="100"/>
        </p:scale>
        <p:origin x="-2430" y="-102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4939" y="9440646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86CB3-C8A6-408B-996A-F56416C5D5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8211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643709-4C5D-4029-AD13-C9EB902AFB39}" type="datetimeFigureOut">
              <a:rPr kumimoji="1" lang="ja-JP" altLang="en-US" smtClean="0"/>
              <a:t>2016/6/14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4939" y="9440646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F8FF6F-F349-40D4-A8B8-6AEF027AF6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3903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1268761"/>
            <a:ext cx="9144000" cy="2160239"/>
          </a:xfrm>
          <a:solidFill>
            <a:schemeClr val="tx2"/>
          </a:solidFill>
        </p:spPr>
        <p:txBody>
          <a:bodyPr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84B8D-CB96-438D-B95A-0B9FDE6229D8}" type="datetime1">
              <a:rPr kumimoji="1" lang="ja-JP" altLang="en-US" smtClean="0"/>
              <a:t>2016/6/14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80728"/>
          </a:xfrm>
          <a:solidFill>
            <a:schemeClr val="tx2"/>
          </a:solidFill>
        </p:spPr>
        <p:txBody>
          <a:bodyPr anchor="b">
            <a:normAutofit/>
          </a:bodyPr>
          <a:lstStyle>
            <a:lvl1pPr marL="0" indent="357188"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>
            <a:lvl2pPr marL="801688" indent="-344488">
              <a:buClr>
                <a:srgbClr val="FF0000"/>
              </a:buClr>
              <a:buFont typeface="Wingdings" panose="05000000000000000000" pitchFamily="2" charset="2"/>
              <a:buChar char="ü"/>
              <a:defRPr/>
            </a:lvl2pPr>
          </a:lstStyle>
          <a:p>
            <a:pPr lvl="0"/>
            <a:r>
              <a:rPr kumimoji="1" lang="ja-JP" altLang="en-US" dirty="0" smtClean="0"/>
              <a:t>マスター テキストの書式設定</a:t>
            </a:r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457200" y="6309320"/>
            <a:ext cx="2133600" cy="365125"/>
          </a:xfrm>
        </p:spPr>
        <p:txBody>
          <a:bodyPr/>
          <a:lstStyle>
            <a:lvl1pPr>
              <a:defRPr sz="1800"/>
            </a:lvl1pPr>
          </a:lstStyle>
          <a:p>
            <a:fld id="{90CE4098-C27A-43ED-95BB-A9154219DAB9}" type="datetime1">
              <a:rPr kumimoji="1" lang="ja-JP" altLang="en-US" smtClean="0"/>
              <a:t>2016/6/14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3124200" y="6309320"/>
            <a:ext cx="2895600" cy="365125"/>
          </a:xfrm>
        </p:spPr>
        <p:txBody>
          <a:bodyPr/>
          <a:lstStyle>
            <a:lvl1pPr>
              <a:defRPr sz="1800"/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8172400" y="6309320"/>
            <a:ext cx="514400" cy="365125"/>
          </a:xfrm>
          <a:solidFill>
            <a:schemeClr val="tx2"/>
          </a:solidFill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670B-4C4E-4BF3-9DF4-B6A55788A3E1}" type="datetime1">
              <a:rPr kumimoji="1" lang="ja-JP" altLang="en-US" smtClean="0"/>
              <a:t>2016/6/14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1008459"/>
          </a:xfrm>
          <a:solidFill>
            <a:schemeClr val="tx2"/>
          </a:solidFill>
        </p:spPr>
        <p:txBody>
          <a:bodyPr anchor="b">
            <a:normAutofit/>
          </a:bodyPr>
          <a:lstStyle>
            <a:lvl1pPr marL="357188" indent="0"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341438"/>
            <a:ext cx="4038600" cy="4784725"/>
          </a:xfrm>
        </p:spPr>
        <p:txBody>
          <a:bodyPr/>
          <a:lstStyle>
            <a:lvl1pPr>
              <a:defRPr sz="2800"/>
            </a:lvl1pPr>
            <a:lvl2pPr marL="801688" indent="-344488">
              <a:buClr>
                <a:srgbClr val="FF0000"/>
              </a:buClr>
              <a:buFont typeface="Wingdings" panose="05000000000000000000" pitchFamily="2" charset="2"/>
              <a:buChar char="ü"/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dirty="0" smtClean="0"/>
              <a:t>マスター テキストの書式設定</a:t>
            </a:r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341438"/>
            <a:ext cx="4038600" cy="4784725"/>
          </a:xfrm>
        </p:spPr>
        <p:txBody>
          <a:bodyPr/>
          <a:lstStyle>
            <a:lvl1pPr>
              <a:defRPr sz="2800"/>
            </a:lvl1pPr>
            <a:lvl2pPr marL="801688" indent="-344488">
              <a:buClr>
                <a:srgbClr val="FF0000"/>
              </a:buClr>
              <a:buFont typeface="Wingdings" panose="05000000000000000000" pitchFamily="2" charset="2"/>
              <a:buChar char="ü"/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dirty="0" smtClean="0"/>
              <a:t>マスター テキストの書式設定</a:t>
            </a:r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>
          <a:xfrm>
            <a:off x="457200" y="6309320"/>
            <a:ext cx="2133600" cy="365125"/>
          </a:xfrm>
        </p:spPr>
        <p:txBody>
          <a:bodyPr/>
          <a:lstStyle>
            <a:lvl1pPr>
              <a:defRPr sz="1800"/>
            </a:lvl1pPr>
          </a:lstStyle>
          <a:p>
            <a:fld id="{CB09FCB3-F078-4DBC-AF1F-9B666797D915}" type="datetime1">
              <a:rPr kumimoji="1" lang="ja-JP" altLang="en-US" smtClean="0"/>
              <a:t>2016/6/14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>
          <a:xfrm>
            <a:off x="3124200" y="6309320"/>
            <a:ext cx="2895600" cy="365125"/>
          </a:xfrm>
        </p:spPr>
        <p:txBody>
          <a:bodyPr/>
          <a:lstStyle>
            <a:lvl1pPr>
              <a:defRPr sz="18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>
          <a:xfrm>
            <a:off x="8172400" y="6309320"/>
            <a:ext cx="514400" cy="365125"/>
          </a:xfrm>
          <a:solidFill>
            <a:schemeClr val="tx2"/>
          </a:solidFill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/>
            </a:lvl1pPr>
          </a:lstStyle>
          <a:p>
            <a:fld id="{6059CCFC-B639-46A9-9CB4-4B4256E36AA2}" type="datetime1">
              <a:rPr kumimoji="1" lang="ja-JP" altLang="en-US" smtClean="0"/>
              <a:t>2016/6/14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/>
            </a:lvl1pPr>
          </a:lstStyle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81075"/>
          </a:xfrm>
          <a:solidFill>
            <a:schemeClr val="tx2"/>
          </a:solidFill>
        </p:spPr>
        <p:txBody>
          <a:bodyPr anchor="b">
            <a:normAutofit/>
          </a:bodyPr>
          <a:lstStyle>
            <a:lvl1pPr marL="357188" indent="0"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>
          <a:xfrm>
            <a:off x="457200" y="6309320"/>
            <a:ext cx="2133600" cy="365125"/>
          </a:xfrm>
        </p:spPr>
        <p:txBody>
          <a:bodyPr/>
          <a:lstStyle>
            <a:lvl1pPr>
              <a:defRPr sz="1800"/>
            </a:lvl1pPr>
          </a:lstStyle>
          <a:p>
            <a:fld id="{3179CC6D-8438-4758-ADA6-7D42A11B4E42}" type="datetime1">
              <a:rPr kumimoji="1" lang="ja-JP" altLang="en-US" smtClean="0"/>
              <a:t>2016/6/14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>
          <a:xfrm>
            <a:off x="3124200" y="6309320"/>
            <a:ext cx="2895600" cy="365125"/>
          </a:xfrm>
        </p:spPr>
        <p:txBody>
          <a:bodyPr/>
          <a:lstStyle>
            <a:lvl1pPr>
              <a:defRPr sz="18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>
          <a:xfrm>
            <a:off x="8172400" y="6309320"/>
            <a:ext cx="514400" cy="365125"/>
          </a:xfrm>
          <a:solidFill>
            <a:schemeClr val="tx2"/>
          </a:solidFill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>
          <a:xfrm>
            <a:off x="457200" y="6309320"/>
            <a:ext cx="2133600" cy="365125"/>
          </a:xfrm>
        </p:spPr>
        <p:txBody>
          <a:bodyPr/>
          <a:lstStyle>
            <a:lvl1pPr>
              <a:defRPr sz="1800"/>
            </a:lvl1pPr>
          </a:lstStyle>
          <a:p>
            <a:fld id="{C48ACF14-8B57-4F45-B772-C3BC8860F290}" type="datetime1">
              <a:rPr kumimoji="1" lang="ja-JP" altLang="en-US" smtClean="0"/>
              <a:t>2016/6/14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>
          <a:xfrm>
            <a:off x="3124200" y="6309320"/>
            <a:ext cx="2895600" cy="365125"/>
          </a:xfrm>
        </p:spPr>
        <p:txBody>
          <a:bodyPr/>
          <a:lstStyle>
            <a:lvl1pPr>
              <a:defRPr sz="1800"/>
            </a:lvl1pPr>
          </a:lstStyle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>
          <a:xfrm>
            <a:off x="8172400" y="6309320"/>
            <a:ext cx="514400" cy="365125"/>
          </a:xfrm>
          <a:solidFill>
            <a:schemeClr val="tx2"/>
          </a:solidFill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>
          <a:xfrm>
            <a:off x="457200" y="6309320"/>
            <a:ext cx="2133600" cy="365125"/>
          </a:xfrm>
        </p:spPr>
        <p:txBody>
          <a:bodyPr/>
          <a:lstStyle>
            <a:lvl1pPr>
              <a:defRPr sz="1800"/>
            </a:lvl1pPr>
          </a:lstStyle>
          <a:p>
            <a:fld id="{6962567C-EFE4-4915-A720-23BE2F2636D1}" type="datetime1">
              <a:rPr kumimoji="1" lang="ja-JP" altLang="en-US" smtClean="0"/>
              <a:t>2016/6/14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>
          <a:xfrm>
            <a:off x="3124200" y="6309320"/>
            <a:ext cx="2895600" cy="365125"/>
          </a:xfrm>
        </p:spPr>
        <p:txBody>
          <a:bodyPr/>
          <a:lstStyle>
            <a:lvl1pPr>
              <a:defRPr sz="18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>
          <a:xfrm>
            <a:off x="8172400" y="6309320"/>
            <a:ext cx="514400" cy="365125"/>
          </a:xfrm>
          <a:solidFill>
            <a:schemeClr val="tx2"/>
          </a:solidFill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 smtClean="0"/>
              <a:t>アイコンをクリックして図を追加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>
          <a:xfrm>
            <a:off x="457200" y="6309320"/>
            <a:ext cx="2133600" cy="365125"/>
          </a:xfrm>
        </p:spPr>
        <p:txBody>
          <a:bodyPr/>
          <a:lstStyle>
            <a:lvl1pPr>
              <a:defRPr sz="1800"/>
            </a:lvl1pPr>
          </a:lstStyle>
          <a:p>
            <a:fld id="{73913E85-D82C-4D2F-AFBB-988A5B09E695}" type="datetime1">
              <a:rPr kumimoji="1" lang="ja-JP" altLang="en-US" smtClean="0"/>
              <a:t>2016/6/14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>
          <a:xfrm>
            <a:off x="3124200" y="6309320"/>
            <a:ext cx="2895600" cy="365125"/>
          </a:xfrm>
        </p:spPr>
        <p:txBody>
          <a:bodyPr/>
          <a:lstStyle>
            <a:lvl1pPr>
              <a:defRPr sz="18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>
          <a:xfrm>
            <a:off x="8172400" y="6309320"/>
            <a:ext cx="514400" cy="365125"/>
          </a:xfrm>
          <a:solidFill>
            <a:schemeClr val="tx2"/>
          </a:solidFill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457200" y="6309320"/>
            <a:ext cx="2133600" cy="365125"/>
          </a:xfrm>
        </p:spPr>
        <p:txBody>
          <a:bodyPr/>
          <a:lstStyle>
            <a:lvl1pPr>
              <a:defRPr sz="1800"/>
            </a:lvl1pPr>
          </a:lstStyle>
          <a:p>
            <a:fld id="{7B4D93B6-0285-46A7-A82C-95E7558E3D9F}" type="datetime1">
              <a:rPr kumimoji="1" lang="ja-JP" altLang="en-US" smtClean="0"/>
              <a:t>2016/6/14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3124200" y="6309320"/>
            <a:ext cx="2895600" cy="365125"/>
          </a:xfrm>
        </p:spPr>
        <p:txBody>
          <a:bodyPr/>
          <a:lstStyle>
            <a:lvl1pPr>
              <a:defRPr sz="1800"/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8172400" y="6309320"/>
            <a:ext cx="514400" cy="365125"/>
          </a:xfrm>
          <a:solidFill>
            <a:schemeClr val="tx2"/>
          </a:solidFill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457200" y="6309320"/>
            <a:ext cx="2133600" cy="365125"/>
          </a:xfrm>
        </p:spPr>
        <p:txBody>
          <a:bodyPr/>
          <a:lstStyle>
            <a:lvl1pPr>
              <a:defRPr sz="1800"/>
            </a:lvl1pPr>
          </a:lstStyle>
          <a:p>
            <a:fld id="{104A8BB3-0B86-4863-994A-0E33CF5F8849}" type="datetime1">
              <a:rPr kumimoji="1" lang="ja-JP" altLang="en-US" smtClean="0"/>
              <a:t>2016/6/14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3124200" y="6309320"/>
            <a:ext cx="2895600" cy="365125"/>
          </a:xfrm>
        </p:spPr>
        <p:txBody>
          <a:bodyPr/>
          <a:lstStyle>
            <a:lvl1pPr>
              <a:defRPr sz="1800"/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8172400" y="6309320"/>
            <a:ext cx="514400" cy="365125"/>
          </a:xfrm>
          <a:solidFill>
            <a:schemeClr val="tx2"/>
          </a:solidFill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3E79E6-7FAA-4665-879B-3ABFDCC300E7}" type="datetime1">
              <a:rPr kumimoji="1" lang="ja-JP" altLang="en-US" smtClean="0"/>
              <a:t>2016/6/14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フローチャート解答例</a:t>
            </a:r>
            <a:endParaRPr kumimoji="1" lang="ja-JP" altLang="en-US" dirty="0"/>
          </a:p>
        </p:txBody>
      </p:sp>
      <p:sp>
        <p:nvSpPr>
          <p:cNvPr id="6" name="サブタイトル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6070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練習 順次のフローチャートを書く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>
          <a:xfrm>
            <a:off x="457200" y="1268760"/>
            <a:ext cx="6635080" cy="485740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ja-JP" altLang="en-US" dirty="0"/>
              <a:t>朝起きて学校</a:t>
            </a:r>
            <a:r>
              <a:rPr lang="ja-JP" altLang="en-US" dirty="0" smtClean="0"/>
              <a:t>へ行くまで</a:t>
            </a:r>
            <a:endParaRPr lang="en-US" altLang="ja-JP" dirty="0" smtClean="0"/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kumimoji="1" lang="ja-JP" altLang="en-US" dirty="0"/>
              <a:t>朝食を</a:t>
            </a:r>
            <a:r>
              <a:rPr kumimoji="1" lang="ja-JP" altLang="en-US" dirty="0" smtClean="0"/>
              <a:t>食べる</a:t>
            </a:r>
            <a:endParaRPr kumimoji="1" lang="en-US" altLang="ja-JP" dirty="0" smtClean="0"/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ja-JP" altLang="en-US" dirty="0"/>
              <a:t>歯磨き</a:t>
            </a:r>
            <a:r>
              <a:rPr lang="ja-JP" altLang="en-US" dirty="0" smtClean="0"/>
              <a:t>する</a:t>
            </a:r>
            <a:endParaRPr lang="en-US" altLang="ja-JP" dirty="0" smtClean="0"/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kumimoji="1" lang="ja-JP" altLang="en-US" dirty="0" smtClean="0"/>
              <a:t>登校する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8" name="フローチャート: 処理 7"/>
          <p:cNvSpPr/>
          <p:nvPr/>
        </p:nvSpPr>
        <p:spPr>
          <a:xfrm>
            <a:off x="6156176" y="2513792"/>
            <a:ext cx="2016224" cy="584775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3200" dirty="0" smtClean="0"/>
              <a:t>？</a:t>
            </a:r>
          </a:p>
        </p:txBody>
      </p:sp>
      <p:cxnSp>
        <p:nvCxnSpPr>
          <p:cNvPr id="9" name="カギ線コネクタ 7"/>
          <p:cNvCxnSpPr>
            <a:stCxn id="15" idx="2"/>
            <a:endCxn id="8" idx="0"/>
          </p:cNvCxnSpPr>
          <p:nvPr/>
        </p:nvCxnSpPr>
        <p:spPr>
          <a:xfrm>
            <a:off x="7164288" y="1937728"/>
            <a:ext cx="0" cy="576064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フローチャート: 処理 9"/>
          <p:cNvSpPr/>
          <p:nvPr/>
        </p:nvSpPr>
        <p:spPr>
          <a:xfrm>
            <a:off x="6162526" y="3687570"/>
            <a:ext cx="2016224" cy="584775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3200" dirty="0" smtClean="0"/>
              <a:t>？</a:t>
            </a:r>
          </a:p>
        </p:txBody>
      </p:sp>
      <p:cxnSp>
        <p:nvCxnSpPr>
          <p:cNvPr id="11" name="カギ線コネクタ 7"/>
          <p:cNvCxnSpPr>
            <a:stCxn id="8" idx="2"/>
            <a:endCxn id="10" idx="0"/>
          </p:cNvCxnSpPr>
          <p:nvPr/>
        </p:nvCxnSpPr>
        <p:spPr>
          <a:xfrm>
            <a:off x="7164288" y="3098567"/>
            <a:ext cx="6350" cy="589003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フローチャート: 処理 11"/>
          <p:cNvSpPr/>
          <p:nvPr/>
        </p:nvSpPr>
        <p:spPr>
          <a:xfrm>
            <a:off x="6156176" y="4876979"/>
            <a:ext cx="2016224" cy="584775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3200" dirty="0" smtClean="0"/>
              <a:t>？</a:t>
            </a:r>
          </a:p>
        </p:txBody>
      </p:sp>
      <p:cxnSp>
        <p:nvCxnSpPr>
          <p:cNvPr id="13" name="カギ線コネクタ 7"/>
          <p:cNvCxnSpPr>
            <a:stCxn id="10" idx="2"/>
            <a:endCxn id="12" idx="0"/>
          </p:cNvCxnSpPr>
          <p:nvPr/>
        </p:nvCxnSpPr>
        <p:spPr>
          <a:xfrm flipH="1">
            <a:off x="7164288" y="4272345"/>
            <a:ext cx="6350" cy="604634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カギ線コネクタ 7"/>
          <p:cNvCxnSpPr>
            <a:stCxn id="12" idx="2"/>
          </p:cNvCxnSpPr>
          <p:nvPr/>
        </p:nvCxnSpPr>
        <p:spPr>
          <a:xfrm>
            <a:off x="7164288" y="5461754"/>
            <a:ext cx="13679" cy="508422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フローチャート : 端子 14"/>
          <p:cNvSpPr/>
          <p:nvPr/>
        </p:nvSpPr>
        <p:spPr>
          <a:xfrm>
            <a:off x="6505160" y="1526576"/>
            <a:ext cx="1318255" cy="411152"/>
          </a:xfrm>
          <a:prstGeom prst="flowChartTermina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2400" dirty="0" smtClean="0"/>
              <a:t>開始</a:t>
            </a:r>
          </a:p>
        </p:txBody>
      </p:sp>
      <p:sp>
        <p:nvSpPr>
          <p:cNvPr id="16" name="フローチャート : 端子 15"/>
          <p:cNvSpPr/>
          <p:nvPr/>
        </p:nvSpPr>
        <p:spPr>
          <a:xfrm>
            <a:off x="6518839" y="5970176"/>
            <a:ext cx="1318255" cy="411152"/>
          </a:xfrm>
          <a:prstGeom prst="flowChartTermina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2400" dirty="0" smtClean="0"/>
              <a:t>終了</a:t>
            </a:r>
          </a:p>
        </p:txBody>
      </p:sp>
      <p:sp>
        <p:nvSpPr>
          <p:cNvPr id="18" name="フローチャート: 処理 17"/>
          <p:cNvSpPr/>
          <p:nvPr/>
        </p:nvSpPr>
        <p:spPr>
          <a:xfrm>
            <a:off x="1403648" y="4574662"/>
            <a:ext cx="3744416" cy="1569660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3200" dirty="0" smtClean="0"/>
              <a:t>ノートに書く</a:t>
            </a:r>
            <a:endParaRPr kumimoji="1" lang="en-US" altLang="ja-JP" sz="3200" dirty="0" smtClean="0"/>
          </a:p>
          <a:p>
            <a:pPr algn="ctr"/>
            <a:r>
              <a:rPr lang="ja-JP" altLang="en-US" sz="3200" dirty="0"/>
              <a:t>また</a:t>
            </a:r>
            <a:r>
              <a:rPr lang="ja-JP" altLang="en-US" sz="3200" dirty="0" smtClean="0"/>
              <a:t>は</a:t>
            </a:r>
            <a:endParaRPr lang="en-US" altLang="ja-JP" sz="3200" dirty="0" smtClean="0"/>
          </a:p>
          <a:p>
            <a:pPr algn="ctr"/>
            <a:r>
              <a:rPr kumimoji="1" lang="en-US" altLang="ja-JP" sz="3200" dirty="0" err="1" smtClean="0"/>
              <a:t>Powerpoint</a:t>
            </a:r>
            <a:r>
              <a:rPr kumimoji="1" lang="ja-JP" altLang="en-US" sz="3200" dirty="0" smtClean="0"/>
              <a:t>を使う</a:t>
            </a:r>
          </a:p>
        </p:txBody>
      </p:sp>
    </p:spTree>
    <p:extLst>
      <p:ext uri="{BB962C8B-B14F-4D97-AF65-F5344CB8AC3E}">
        <p14:creationId xmlns:p14="http://schemas.microsoft.com/office/powerpoint/2010/main" val="2839551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解答例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6" name="フローチャート: 処理 5"/>
          <p:cNvSpPr/>
          <p:nvPr/>
        </p:nvSpPr>
        <p:spPr>
          <a:xfrm>
            <a:off x="3032537" y="2513792"/>
            <a:ext cx="2646879" cy="584775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3200" dirty="0" smtClean="0"/>
              <a:t>朝食を食べる</a:t>
            </a:r>
            <a:endParaRPr kumimoji="1" lang="ja-JP" altLang="en-US" sz="3200" dirty="0" smtClean="0"/>
          </a:p>
        </p:txBody>
      </p:sp>
      <p:cxnSp>
        <p:nvCxnSpPr>
          <p:cNvPr id="7" name="カギ線コネクタ 7"/>
          <p:cNvCxnSpPr>
            <a:stCxn id="13" idx="2"/>
            <a:endCxn id="6" idx="0"/>
          </p:cNvCxnSpPr>
          <p:nvPr/>
        </p:nvCxnSpPr>
        <p:spPr>
          <a:xfrm>
            <a:off x="4355976" y="1937728"/>
            <a:ext cx="1" cy="576064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フローチャート: 処理 7"/>
          <p:cNvSpPr/>
          <p:nvPr/>
        </p:nvSpPr>
        <p:spPr>
          <a:xfrm>
            <a:off x="3244071" y="3687570"/>
            <a:ext cx="2236511" cy="584775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3200" dirty="0" smtClean="0"/>
              <a:t>歯磨きする</a:t>
            </a:r>
            <a:endParaRPr kumimoji="1" lang="ja-JP" altLang="en-US" sz="3200" dirty="0" smtClean="0"/>
          </a:p>
        </p:txBody>
      </p:sp>
      <p:cxnSp>
        <p:nvCxnSpPr>
          <p:cNvPr id="9" name="カギ線コネクタ 7"/>
          <p:cNvCxnSpPr>
            <a:stCxn id="6" idx="2"/>
            <a:endCxn id="8" idx="0"/>
          </p:cNvCxnSpPr>
          <p:nvPr/>
        </p:nvCxnSpPr>
        <p:spPr>
          <a:xfrm>
            <a:off x="4355977" y="3098567"/>
            <a:ext cx="6350" cy="589003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フローチャート: 処理 9"/>
          <p:cNvSpPr/>
          <p:nvPr/>
        </p:nvSpPr>
        <p:spPr>
          <a:xfrm>
            <a:off x="3347864" y="4876979"/>
            <a:ext cx="2016224" cy="584775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3200" dirty="0" smtClean="0"/>
              <a:t>登校する</a:t>
            </a:r>
            <a:endParaRPr kumimoji="1" lang="ja-JP" altLang="en-US" sz="3200" dirty="0" smtClean="0"/>
          </a:p>
        </p:txBody>
      </p:sp>
      <p:cxnSp>
        <p:nvCxnSpPr>
          <p:cNvPr id="11" name="カギ線コネクタ 7"/>
          <p:cNvCxnSpPr>
            <a:stCxn id="8" idx="2"/>
            <a:endCxn id="10" idx="0"/>
          </p:cNvCxnSpPr>
          <p:nvPr/>
        </p:nvCxnSpPr>
        <p:spPr>
          <a:xfrm flipH="1">
            <a:off x="4355976" y="4272345"/>
            <a:ext cx="6351" cy="604634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カギ線コネクタ 7"/>
          <p:cNvCxnSpPr>
            <a:stCxn id="10" idx="2"/>
          </p:cNvCxnSpPr>
          <p:nvPr/>
        </p:nvCxnSpPr>
        <p:spPr>
          <a:xfrm>
            <a:off x="4355976" y="5461754"/>
            <a:ext cx="13679" cy="508422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フローチャート : 端子 12"/>
          <p:cNvSpPr/>
          <p:nvPr/>
        </p:nvSpPr>
        <p:spPr>
          <a:xfrm>
            <a:off x="3696848" y="1526576"/>
            <a:ext cx="1318255" cy="411152"/>
          </a:xfrm>
          <a:prstGeom prst="flowChartTermina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2400" dirty="0" smtClean="0"/>
              <a:t>開始</a:t>
            </a:r>
          </a:p>
        </p:txBody>
      </p:sp>
      <p:sp>
        <p:nvSpPr>
          <p:cNvPr id="14" name="フローチャート : 端子 13"/>
          <p:cNvSpPr/>
          <p:nvPr/>
        </p:nvSpPr>
        <p:spPr>
          <a:xfrm>
            <a:off x="3710527" y="5970176"/>
            <a:ext cx="1318255" cy="411152"/>
          </a:xfrm>
          <a:prstGeom prst="flowChartTermina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2400" dirty="0" smtClean="0"/>
              <a:t>終了</a:t>
            </a:r>
          </a:p>
        </p:txBody>
      </p:sp>
    </p:spTree>
    <p:extLst>
      <p:ext uri="{BB962C8B-B14F-4D97-AF65-F5344CB8AC3E}">
        <p14:creationId xmlns:p14="http://schemas.microsoft.com/office/powerpoint/2010/main" val="4205297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 smtClean="0"/>
              <a:t>練習 条件分岐のフローチャートを書く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ja-JP" altLang="en-US" dirty="0"/>
              <a:t>朝起きて学校へ行くまで</a:t>
            </a:r>
            <a:endParaRPr lang="en-US" altLang="ja-JP" dirty="0"/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ja-JP" altLang="en-US" dirty="0"/>
              <a:t>朝食を食べる</a:t>
            </a:r>
            <a:endParaRPr lang="en-US" altLang="ja-JP" dirty="0"/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ja-JP" altLang="en-US" dirty="0"/>
              <a:t>歯磨きする</a:t>
            </a:r>
            <a:endParaRPr lang="en-US" altLang="ja-JP" dirty="0"/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ja-JP" altLang="en-US" dirty="0" smtClean="0"/>
              <a:t>もし雨だったら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 smtClean="0"/>
              <a:t>傘を</a:t>
            </a:r>
            <a:r>
              <a:rPr lang="ja-JP" altLang="en-US" dirty="0"/>
              <a:t>持って</a:t>
            </a:r>
            <a:r>
              <a:rPr lang="ja-JP" altLang="en-US" dirty="0" smtClean="0"/>
              <a:t>登校する</a:t>
            </a:r>
            <a:endParaRPr lang="en-US" altLang="ja-JP" dirty="0"/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kumimoji="1" lang="ja-JP" altLang="en-US" dirty="0" smtClean="0"/>
              <a:t>雨でなかったら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傘</a:t>
            </a:r>
            <a:r>
              <a:rPr kumimoji="1" lang="ja-JP" altLang="en-US" dirty="0"/>
              <a:t>を</a:t>
            </a:r>
            <a:r>
              <a:rPr kumimoji="1" lang="ja-JP" altLang="en-US" dirty="0" smtClean="0"/>
              <a:t>持たず登校する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4</a:t>
            </a:fld>
            <a:endParaRPr kumimoji="1" lang="ja-JP" altLang="en-US"/>
          </a:p>
        </p:txBody>
      </p:sp>
      <p:cxnSp>
        <p:nvCxnSpPr>
          <p:cNvPr id="5" name="カギ線コネクタ 7"/>
          <p:cNvCxnSpPr>
            <a:stCxn id="11" idx="2"/>
            <a:endCxn id="17" idx="0"/>
          </p:cNvCxnSpPr>
          <p:nvPr/>
        </p:nvCxnSpPr>
        <p:spPr>
          <a:xfrm>
            <a:off x="6319506" y="1872177"/>
            <a:ext cx="0" cy="33268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フローチャート: 処理 5"/>
          <p:cNvSpPr/>
          <p:nvPr/>
        </p:nvSpPr>
        <p:spPr>
          <a:xfrm>
            <a:off x="5508104" y="5013176"/>
            <a:ext cx="1653560" cy="584775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3200" dirty="0" smtClean="0"/>
              <a:t>？</a:t>
            </a:r>
          </a:p>
        </p:txBody>
      </p:sp>
      <p:cxnSp>
        <p:nvCxnSpPr>
          <p:cNvPr id="7" name="カギ線コネクタ 7"/>
          <p:cNvCxnSpPr>
            <a:stCxn id="13" idx="2"/>
            <a:endCxn id="6" idx="0"/>
          </p:cNvCxnSpPr>
          <p:nvPr/>
        </p:nvCxnSpPr>
        <p:spPr>
          <a:xfrm>
            <a:off x="6334884" y="4653136"/>
            <a:ext cx="0" cy="360040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フローチャート: 処理 7"/>
          <p:cNvSpPr/>
          <p:nvPr/>
        </p:nvSpPr>
        <p:spPr>
          <a:xfrm>
            <a:off x="7251959" y="5013176"/>
            <a:ext cx="1653560" cy="584775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3200" dirty="0" smtClean="0"/>
              <a:t>？</a:t>
            </a:r>
          </a:p>
        </p:txBody>
      </p:sp>
      <p:cxnSp>
        <p:nvCxnSpPr>
          <p:cNvPr id="9" name="カギ線コネクタ 7"/>
          <p:cNvCxnSpPr>
            <a:stCxn id="13" idx="3"/>
            <a:endCxn id="8" idx="0"/>
          </p:cNvCxnSpPr>
          <p:nvPr/>
        </p:nvCxnSpPr>
        <p:spPr>
          <a:xfrm>
            <a:off x="7059817" y="4296898"/>
            <a:ext cx="1018922" cy="716278"/>
          </a:xfrm>
          <a:prstGeom prst="bentConnector2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カギ線コネクタ 7"/>
          <p:cNvCxnSpPr>
            <a:stCxn id="8" idx="2"/>
          </p:cNvCxnSpPr>
          <p:nvPr/>
        </p:nvCxnSpPr>
        <p:spPr>
          <a:xfrm rot="5400000">
            <a:off x="7001938" y="4930900"/>
            <a:ext cx="409750" cy="1743853"/>
          </a:xfrm>
          <a:prstGeom prst="bentConnector2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フローチャート : 端子 10"/>
          <p:cNvSpPr/>
          <p:nvPr/>
        </p:nvSpPr>
        <p:spPr>
          <a:xfrm>
            <a:off x="5660378" y="1461025"/>
            <a:ext cx="1318255" cy="411152"/>
          </a:xfrm>
          <a:prstGeom prst="flowChartTermina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2400" dirty="0" smtClean="0"/>
              <a:t>開始</a:t>
            </a:r>
          </a:p>
        </p:txBody>
      </p:sp>
      <p:sp>
        <p:nvSpPr>
          <p:cNvPr id="12" name="フローチャート : 端子 11"/>
          <p:cNvSpPr/>
          <p:nvPr/>
        </p:nvSpPr>
        <p:spPr>
          <a:xfrm>
            <a:off x="5671443" y="6237312"/>
            <a:ext cx="1318255" cy="411152"/>
          </a:xfrm>
          <a:prstGeom prst="flowChartTermina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2400" dirty="0" smtClean="0"/>
              <a:t>終了</a:t>
            </a:r>
          </a:p>
        </p:txBody>
      </p:sp>
      <p:sp>
        <p:nvSpPr>
          <p:cNvPr id="13" name="フローチャート : 判断 12"/>
          <p:cNvSpPr/>
          <p:nvPr/>
        </p:nvSpPr>
        <p:spPr>
          <a:xfrm>
            <a:off x="5609951" y="3940660"/>
            <a:ext cx="1449866" cy="712476"/>
          </a:xfrm>
          <a:prstGeom prst="flowChartDecisi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2800" dirty="0"/>
              <a:t>？</a:t>
            </a:r>
            <a:endParaRPr kumimoji="1" lang="ja-JP" altLang="en-US" sz="2800" dirty="0" smtClean="0"/>
          </a:p>
        </p:txBody>
      </p:sp>
      <p:cxnSp>
        <p:nvCxnSpPr>
          <p:cNvPr id="14" name="カギ線コネクタ 7"/>
          <p:cNvCxnSpPr>
            <a:stCxn id="6" idx="2"/>
            <a:endCxn id="12" idx="0"/>
          </p:cNvCxnSpPr>
          <p:nvPr/>
        </p:nvCxnSpPr>
        <p:spPr>
          <a:xfrm flipH="1">
            <a:off x="6330571" y="5597951"/>
            <a:ext cx="4313" cy="639361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5808854" y="4581128"/>
            <a:ext cx="510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Yes</a:t>
            </a:r>
            <a:endParaRPr kumimoji="1" lang="ja-JP" altLang="en-US" dirty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7020272" y="3933056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No</a:t>
            </a:r>
            <a:endParaRPr kumimoji="1" lang="ja-JP" altLang="en-US" dirty="0"/>
          </a:p>
        </p:txBody>
      </p:sp>
      <p:sp>
        <p:nvSpPr>
          <p:cNvPr id="17" name="フローチャート: 処理 16"/>
          <p:cNvSpPr/>
          <p:nvPr/>
        </p:nvSpPr>
        <p:spPr>
          <a:xfrm>
            <a:off x="5311394" y="2204864"/>
            <a:ext cx="2016224" cy="584775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3200" dirty="0" smtClean="0"/>
              <a:t>？</a:t>
            </a:r>
          </a:p>
        </p:txBody>
      </p:sp>
      <p:sp>
        <p:nvSpPr>
          <p:cNvPr id="18" name="フローチャート: 処理 17"/>
          <p:cNvSpPr/>
          <p:nvPr/>
        </p:nvSpPr>
        <p:spPr>
          <a:xfrm>
            <a:off x="5322459" y="3068960"/>
            <a:ext cx="2016224" cy="584775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3200" dirty="0" smtClean="0"/>
              <a:t>？</a:t>
            </a:r>
          </a:p>
        </p:txBody>
      </p:sp>
      <p:cxnSp>
        <p:nvCxnSpPr>
          <p:cNvPr id="19" name="カギ線コネクタ 7"/>
          <p:cNvCxnSpPr>
            <a:stCxn id="17" idx="2"/>
            <a:endCxn id="18" idx="0"/>
          </p:cNvCxnSpPr>
          <p:nvPr/>
        </p:nvCxnSpPr>
        <p:spPr>
          <a:xfrm>
            <a:off x="6319506" y="2789639"/>
            <a:ext cx="11065" cy="279321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カギ線コネクタ 7"/>
          <p:cNvCxnSpPr>
            <a:stCxn id="18" idx="2"/>
            <a:endCxn id="13" idx="0"/>
          </p:cNvCxnSpPr>
          <p:nvPr/>
        </p:nvCxnSpPr>
        <p:spPr>
          <a:xfrm>
            <a:off x="6330571" y="3653735"/>
            <a:ext cx="4313" cy="286925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50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タイトル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解答例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5</a:t>
            </a:fld>
            <a:endParaRPr kumimoji="1" lang="ja-JP" altLang="en-US"/>
          </a:p>
        </p:txBody>
      </p:sp>
      <p:cxnSp>
        <p:nvCxnSpPr>
          <p:cNvPr id="23" name="カギ線コネクタ 7"/>
          <p:cNvCxnSpPr>
            <a:stCxn id="29" idx="2"/>
            <a:endCxn id="35" idx="0"/>
          </p:cNvCxnSpPr>
          <p:nvPr/>
        </p:nvCxnSpPr>
        <p:spPr>
          <a:xfrm>
            <a:off x="2817990" y="1679912"/>
            <a:ext cx="1" cy="33268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フローチャート: 処理 23"/>
          <p:cNvSpPr/>
          <p:nvPr/>
        </p:nvSpPr>
        <p:spPr>
          <a:xfrm>
            <a:off x="894375" y="4820911"/>
            <a:ext cx="3877986" cy="584775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3200" dirty="0" smtClean="0"/>
              <a:t>傘を持って登校する</a:t>
            </a:r>
            <a:endParaRPr kumimoji="1" lang="ja-JP" altLang="en-US" sz="3200" dirty="0" smtClean="0"/>
          </a:p>
        </p:txBody>
      </p:sp>
      <p:cxnSp>
        <p:nvCxnSpPr>
          <p:cNvPr id="25" name="カギ線コネクタ 7"/>
          <p:cNvCxnSpPr>
            <a:stCxn id="31" idx="2"/>
            <a:endCxn id="24" idx="0"/>
          </p:cNvCxnSpPr>
          <p:nvPr/>
        </p:nvCxnSpPr>
        <p:spPr>
          <a:xfrm>
            <a:off x="2833270" y="4460871"/>
            <a:ext cx="98" cy="360040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フローチャート: 処理 25"/>
          <p:cNvSpPr/>
          <p:nvPr/>
        </p:nvSpPr>
        <p:spPr>
          <a:xfrm>
            <a:off x="4942486" y="4820910"/>
            <a:ext cx="3877986" cy="584775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3200" dirty="0"/>
              <a:t>傘</a:t>
            </a:r>
            <a:r>
              <a:rPr lang="ja-JP" altLang="en-US" sz="3200" dirty="0" smtClean="0"/>
              <a:t>を持たず登校</a:t>
            </a:r>
            <a:r>
              <a:rPr lang="ja-JP" altLang="en-US" sz="3200" dirty="0"/>
              <a:t>する</a:t>
            </a:r>
          </a:p>
        </p:txBody>
      </p:sp>
      <p:cxnSp>
        <p:nvCxnSpPr>
          <p:cNvPr id="27" name="カギ線コネクタ 7"/>
          <p:cNvCxnSpPr>
            <a:stCxn id="31" idx="3"/>
            <a:endCxn id="26" idx="0"/>
          </p:cNvCxnSpPr>
          <p:nvPr/>
        </p:nvCxnSpPr>
        <p:spPr>
          <a:xfrm>
            <a:off x="4013934" y="4104633"/>
            <a:ext cx="2867545" cy="716277"/>
          </a:xfrm>
          <a:prstGeom prst="bentConnector2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カギ線コネクタ 7"/>
          <p:cNvCxnSpPr>
            <a:stCxn id="26" idx="2"/>
          </p:cNvCxnSpPr>
          <p:nvPr/>
        </p:nvCxnSpPr>
        <p:spPr>
          <a:xfrm rot="5400000">
            <a:off x="4692660" y="3536548"/>
            <a:ext cx="319683" cy="4057956"/>
          </a:xfrm>
          <a:prstGeom prst="bentConnector2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フローチャート : 端子 28"/>
          <p:cNvSpPr/>
          <p:nvPr/>
        </p:nvSpPr>
        <p:spPr>
          <a:xfrm>
            <a:off x="2158862" y="1268760"/>
            <a:ext cx="1318255" cy="411152"/>
          </a:xfrm>
          <a:prstGeom prst="flowChartTermina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2400" dirty="0" smtClean="0"/>
              <a:t>開始</a:t>
            </a:r>
          </a:p>
        </p:txBody>
      </p:sp>
      <p:sp>
        <p:nvSpPr>
          <p:cNvPr id="30" name="フローチャート : 端子 29"/>
          <p:cNvSpPr/>
          <p:nvPr/>
        </p:nvSpPr>
        <p:spPr>
          <a:xfrm>
            <a:off x="2169927" y="6045047"/>
            <a:ext cx="1318255" cy="411152"/>
          </a:xfrm>
          <a:prstGeom prst="flowChartTermina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2400" dirty="0" smtClean="0"/>
              <a:t>終了</a:t>
            </a:r>
          </a:p>
        </p:txBody>
      </p:sp>
      <p:sp>
        <p:nvSpPr>
          <p:cNvPr id="31" name="フローチャート : 判断 30"/>
          <p:cNvSpPr/>
          <p:nvPr/>
        </p:nvSpPr>
        <p:spPr>
          <a:xfrm>
            <a:off x="1652605" y="3748395"/>
            <a:ext cx="2361329" cy="712476"/>
          </a:xfrm>
          <a:prstGeom prst="flowChartDecisi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dirty="0" smtClean="0"/>
              <a:t>雨が降っている</a:t>
            </a:r>
            <a:endParaRPr kumimoji="1" lang="ja-JP" altLang="en-US" dirty="0" smtClean="0"/>
          </a:p>
        </p:txBody>
      </p:sp>
      <p:cxnSp>
        <p:nvCxnSpPr>
          <p:cNvPr id="32" name="カギ線コネクタ 7"/>
          <p:cNvCxnSpPr>
            <a:stCxn id="24" idx="2"/>
            <a:endCxn id="30" idx="0"/>
          </p:cNvCxnSpPr>
          <p:nvPr/>
        </p:nvCxnSpPr>
        <p:spPr>
          <a:xfrm flipH="1">
            <a:off x="2829055" y="5405686"/>
            <a:ext cx="4313" cy="639361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/>
          <p:cNvSpPr txBox="1"/>
          <p:nvPr/>
        </p:nvSpPr>
        <p:spPr>
          <a:xfrm>
            <a:off x="2307338" y="4388863"/>
            <a:ext cx="510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Yes</a:t>
            </a:r>
            <a:endParaRPr kumimoji="1" lang="ja-JP" altLang="en-US" dirty="0"/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3518756" y="3740791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No</a:t>
            </a:r>
            <a:endParaRPr kumimoji="1" lang="ja-JP" altLang="en-US" dirty="0"/>
          </a:p>
        </p:txBody>
      </p:sp>
      <p:sp>
        <p:nvSpPr>
          <p:cNvPr id="35" name="フローチャート: 処理 34"/>
          <p:cNvSpPr/>
          <p:nvPr/>
        </p:nvSpPr>
        <p:spPr>
          <a:xfrm>
            <a:off x="1494551" y="2012599"/>
            <a:ext cx="2646879" cy="584775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3200" dirty="0" smtClean="0"/>
              <a:t>朝食を食べる</a:t>
            </a:r>
            <a:endParaRPr kumimoji="1" lang="ja-JP" altLang="en-US" sz="3200" dirty="0" smtClean="0"/>
          </a:p>
        </p:txBody>
      </p:sp>
      <p:sp>
        <p:nvSpPr>
          <p:cNvPr id="36" name="フローチャート: 処理 35"/>
          <p:cNvSpPr/>
          <p:nvPr/>
        </p:nvSpPr>
        <p:spPr>
          <a:xfrm>
            <a:off x="1710800" y="2876695"/>
            <a:ext cx="2236511" cy="584775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3200" dirty="0" smtClean="0"/>
              <a:t>歯磨きする</a:t>
            </a:r>
            <a:endParaRPr kumimoji="1" lang="ja-JP" altLang="en-US" sz="3200" dirty="0" smtClean="0"/>
          </a:p>
        </p:txBody>
      </p:sp>
      <p:cxnSp>
        <p:nvCxnSpPr>
          <p:cNvPr id="37" name="カギ線コネクタ 7"/>
          <p:cNvCxnSpPr>
            <a:stCxn id="35" idx="2"/>
            <a:endCxn id="36" idx="0"/>
          </p:cNvCxnSpPr>
          <p:nvPr/>
        </p:nvCxnSpPr>
        <p:spPr>
          <a:xfrm>
            <a:off x="2817991" y="2597374"/>
            <a:ext cx="11065" cy="279321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カギ線コネクタ 7"/>
          <p:cNvCxnSpPr>
            <a:stCxn id="36" idx="2"/>
            <a:endCxn id="31" idx="0"/>
          </p:cNvCxnSpPr>
          <p:nvPr/>
        </p:nvCxnSpPr>
        <p:spPr>
          <a:xfrm>
            <a:off x="2829056" y="3461470"/>
            <a:ext cx="4214" cy="286925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角丸四角形吹き出し 39"/>
          <p:cNvSpPr/>
          <p:nvPr/>
        </p:nvSpPr>
        <p:spPr>
          <a:xfrm>
            <a:off x="6444208" y="2737034"/>
            <a:ext cx="2443257" cy="783193"/>
          </a:xfrm>
          <a:prstGeom prst="wedgeRoundRectCallout">
            <a:avLst>
              <a:gd name="adj1" fmla="val 23630"/>
              <a:gd name="adj2" fmla="val 205198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2000" dirty="0" smtClean="0"/>
              <a:t>処理が長いときは</a:t>
            </a:r>
            <a:endParaRPr kumimoji="1" lang="en-US" altLang="ja-JP" sz="2000" dirty="0" smtClean="0"/>
          </a:p>
          <a:p>
            <a:pPr algn="ctr"/>
            <a:r>
              <a:rPr lang="en-US" altLang="ja-JP" sz="2000" dirty="0"/>
              <a:t>2</a:t>
            </a:r>
            <a:r>
              <a:rPr lang="ja-JP" altLang="en-US" sz="2000" dirty="0" smtClean="0"/>
              <a:t>行以上にしてよい</a:t>
            </a:r>
            <a:endParaRPr kumimoji="1" lang="ja-JP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00866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 smtClean="0"/>
              <a:t>練習 </a:t>
            </a:r>
            <a:r>
              <a:rPr lang="ja-JP" altLang="en-US" dirty="0"/>
              <a:t>繰り返し</a:t>
            </a:r>
            <a:r>
              <a:rPr kumimoji="1" lang="ja-JP" altLang="en-US" dirty="0" smtClean="0"/>
              <a:t>のフローチャートを書く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485740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ja-JP" altLang="en-US" sz="2800" dirty="0"/>
              <a:t>朝起きて学校へ行くまで</a:t>
            </a:r>
            <a:endParaRPr lang="en-US" altLang="ja-JP" sz="2800" dirty="0"/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ja-JP" altLang="en-US" sz="2000" dirty="0" smtClean="0"/>
              <a:t>平日の場合以下</a:t>
            </a:r>
            <a:r>
              <a:rPr lang="ja-JP" altLang="en-US" sz="2000" dirty="0" smtClean="0"/>
              <a:t>の命令を繰り返す</a:t>
            </a:r>
            <a:endParaRPr lang="en-US" altLang="ja-JP" sz="2000" dirty="0" smtClean="0"/>
          </a:p>
          <a:p>
            <a:pPr marL="1312862" lvl="2" indent="-514350">
              <a:lnSpc>
                <a:spcPct val="150000"/>
              </a:lnSpc>
              <a:buFont typeface="+mj-ea"/>
              <a:buAutoNum type="circleNumDbPlain"/>
            </a:pPr>
            <a:r>
              <a:rPr lang="ja-JP" altLang="en-US" sz="1800" dirty="0" smtClean="0"/>
              <a:t>朝食</a:t>
            </a:r>
            <a:r>
              <a:rPr lang="ja-JP" altLang="en-US" sz="1800" dirty="0"/>
              <a:t>を</a:t>
            </a:r>
            <a:r>
              <a:rPr lang="ja-JP" altLang="en-US" sz="1800" dirty="0" smtClean="0"/>
              <a:t>食べる</a:t>
            </a:r>
            <a:endParaRPr lang="en-US" altLang="ja-JP" sz="1800" dirty="0"/>
          </a:p>
          <a:p>
            <a:pPr marL="1312862" lvl="2" indent="-514350">
              <a:lnSpc>
                <a:spcPct val="150000"/>
              </a:lnSpc>
              <a:buFont typeface="+mj-ea"/>
              <a:buAutoNum type="circleNumDbPlain"/>
            </a:pPr>
            <a:r>
              <a:rPr lang="ja-JP" altLang="en-US" sz="1800" dirty="0"/>
              <a:t>歯磨きする</a:t>
            </a:r>
            <a:endParaRPr lang="en-US" altLang="ja-JP" sz="1800" dirty="0"/>
          </a:p>
          <a:p>
            <a:pPr marL="1312862" lvl="2" indent="-514350">
              <a:lnSpc>
                <a:spcPct val="150000"/>
              </a:lnSpc>
              <a:buFont typeface="+mj-ea"/>
              <a:buAutoNum type="circleNumDbPlain"/>
            </a:pPr>
            <a:r>
              <a:rPr lang="ja-JP" altLang="en-US" sz="1800" dirty="0"/>
              <a:t>もし</a:t>
            </a:r>
            <a:r>
              <a:rPr lang="ja-JP" altLang="en-US" sz="1800" dirty="0" smtClean="0"/>
              <a:t>雨なら傘</a:t>
            </a:r>
            <a:r>
              <a:rPr lang="ja-JP" altLang="en-US" sz="1800" dirty="0"/>
              <a:t>を持って登校する</a:t>
            </a:r>
            <a:endParaRPr lang="en-US" altLang="ja-JP" sz="1800" dirty="0"/>
          </a:p>
          <a:p>
            <a:pPr marL="1312862" lvl="2" indent="-514350">
              <a:lnSpc>
                <a:spcPct val="150000"/>
              </a:lnSpc>
              <a:buFont typeface="+mj-ea"/>
              <a:buAutoNum type="circleNumDbPlain"/>
            </a:pPr>
            <a:r>
              <a:rPr lang="ja-JP" altLang="en-US" sz="1800" dirty="0"/>
              <a:t>雨で</a:t>
            </a:r>
            <a:r>
              <a:rPr lang="ja-JP" altLang="en-US" sz="1800" dirty="0" smtClean="0"/>
              <a:t>ないなら傘</a:t>
            </a:r>
            <a:r>
              <a:rPr lang="ja-JP" altLang="en-US" sz="1800" dirty="0"/>
              <a:t>を持たず登校</a:t>
            </a:r>
            <a:r>
              <a:rPr lang="ja-JP" altLang="en-US" sz="1800" dirty="0" smtClean="0"/>
              <a:t>する</a:t>
            </a:r>
            <a:endParaRPr lang="en-US" altLang="ja-JP" sz="1800" dirty="0"/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ja-JP" altLang="en-US" sz="2000" dirty="0" smtClean="0"/>
              <a:t>それ以外</a:t>
            </a:r>
            <a:r>
              <a:rPr lang="en-US" altLang="ja-JP" sz="2000" dirty="0" smtClean="0"/>
              <a:t>(</a:t>
            </a:r>
            <a:r>
              <a:rPr lang="ja-JP" altLang="en-US" sz="2000" dirty="0" smtClean="0"/>
              <a:t>日曜・祝日</a:t>
            </a:r>
            <a:r>
              <a:rPr lang="en-US" altLang="ja-JP" sz="2000" dirty="0" smtClean="0"/>
              <a:t>)</a:t>
            </a:r>
            <a:r>
              <a:rPr lang="ja-JP" altLang="en-US" sz="2000" dirty="0" smtClean="0"/>
              <a:t>は</a:t>
            </a:r>
            <a:r>
              <a:rPr lang="en-US" altLang="ja-JP" sz="2000" dirty="0" smtClean="0"/>
              <a:t/>
            </a:r>
            <a:br>
              <a:rPr lang="en-US" altLang="ja-JP" sz="2000" dirty="0" smtClean="0"/>
            </a:br>
            <a:r>
              <a:rPr lang="ja-JP" altLang="en-US" sz="2000" dirty="0" smtClean="0"/>
              <a:t>登校しない（何もしないで終了）</a:t>
            </a:r>
            <a:endParaRPr lang="ja-JP" altLang="en-US" sz="20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6</a:t>
            </a:fld>
            <a:endParaRPr kumimoji="1" lang="ja-JP" altLang="en-US"/>
          </a:p>
        </p:txBody>
      </p:sp>
      <p:cxnSp>
        <p:nvCxnSpPr>
          <p:cNvPr id="5" name="カギ線コネクタ 7"/>
          <p:cNvCxnSpPr>
            <a:stCxn id="11" idx="2"/>
            <a:endCxn id="21" idx="0"/>
          </p:cNvCxnSpPr>
          <p:nvPr/>
        </p:nvCxnSpPr>
        <p:spPr>
          <a:xfrm>
            <a:off x="6455264" y="1751920"/>
            <a:ext cx="3085" cy="402841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カギ線コネクタ 7"/>
          <p:cNvCxnSpPr>
            <a:stCxn id="51" idx="2"/>
            <a:endCxn id="55" idx="0"/>
          </p:cNvCxnSpPr>
          <p:nvPr/>
        </p:nvCxnSpPr>
        <p:spPr>
          <a:xfrm flipH="1">
            <a:off x="6460314" y="4674069"/>
            <a:ext cx="1801" cy="299211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カギ線コネクタ 7"/>
          <p:cNvCxnSpPr>
            <a:stCxn id="51" idx="3"/>
            <a:endCxn id="58" idx="0"/>
          </p:cNvCxnSpPr>
          <p:nvPr/>
        </p:nvCxnSpPr>
        <p:spPr>
          <a:xfrm>
            <a:off x="7095603" y="4435928"/>
            <a:ext cx="825803" cy="522979"/>
          </a:xfrm>
          <a:prstGeom prst="bentConnector2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カギ線コネクタ 7"/>
          <p:cNvCxnSpPr>
            <a:stCxn id="55" idx="2"/>
            <a:endCxn id="21" idx="0"/>
          </p:cNvCxnSpPr>
          <p:nvPr/>
        </p:nvCxnSpPr>
        <p:spPr>
          <a:xfrm rot="5400000" flipH="1">
            <a:off x="4850017" y="3763094"/>
            <a:ext cx="3218629" cy="1965"/>
          </a:xfrm>
          <a:prstGeom prst="bentConnector5">
            <a:avLst>
              <a:gd name="adj1" fmla="val -12444"/>
              <a:gd name="adj2" fmla="val 44614351"/>
              <a:gd name="adj3" fmla="val 107102"/>
            </a:avLst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フローチャート : 端子 10"/>
          <p:cNvSpPr/>
          <p:nvPr/>
        </p:nvSpPr>
        <p:spPr>
          <a:xfrm>
            <a:off x="5796136" y="1340768"/>
            <a:ext cx="1318255" cy="411152"/>
          </a:xfrm>
          <a:prstGeom prst="flowChartTermina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600" dirty="0" smtClean="0"/>
              <a:t>開始</a:t>
            </a:r>
          </a:p>
        </p:txBody>
      </p:sp>
      <p:sp>
        <p:nvSpPr>
          <p:cNvPr id="12" name="フローチャート : 端子 11"/>
          <p:cNvSpPr/>
          <p:nvPr/>
        </p:nvSpPr>
        <p:spPr>
          <a:xfrm>
            <a:off x="5822449" y="6237312"/>
            <a:ext cx="1318255" cy="411152"/>
          </a:xfrm>
          <a:prstGeom prst="flowChartTermina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600" dirty="0" smtClean="0"/>
              <a:t>終了</a:t>
            </a:r>
          </a:p>
        </p:txBody>
      </p:sp>
      <p:cxnSp>
        <p:nvCxnSpPr>
          <p:cNvPr id="14" name="カギ線コネクタ 7"/>
          <p:cNvCxnSpPr>
            <a:stCxn id="21" idx="3"/>
            <a:endCxn id="12" idx="0"/>
          </p:cNvCxnSpPr>
          <p:nvPr/>
        </p:nvCxnSpPr>
        <p:spPr>
          <a:xfrm flipH="1">
            <a:off x="6481577" y="2392902"/>
            <a:ext cx="610260" cy="3844410"/>
          </a:xfrm>
          <a:prstGeom prst="bentConnector4">
            <a:avLst>
              <a:gd name="adj1" fmla="val -278224"/>
              <a:gd name="adj2" fmla="val 92129"/>
            </a:avLst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6014723" y="4674069"/>
            <a:ext cx="401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 smtClean="0"/>
              <a:t>Yes</a:t>
            </a:r>
            <a:endParaRPr kumimoji="1" lang="ja-JP" altLang="en-US" sz="1200" dirty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7091837" y="4197787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 smtClean="0"/>
              <a:t>No</a:t>
            </a:r>
            <a:endParaRPr kumimoji="1" lang="ja-JP" altLang="en-US" sz="1200" dirty="0"/>
          </a:p>
        </p:txBody>
      </p:sp>
      <p:sp>
        <p:nvSpPr>
          <p:cNvPr id="17" name="フローチャート: 処理 16"/>
          <p:cNvSpPr/>
          <p:nvPr/>
        </p:nvSpPr>
        <p:spPr>
          <a:xfrm>
            <a:off x="5807191" y="2928795"/>
            <a:ext cx="1296144" cy="400110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2000" dirty="0" smtClean="0"/>
              <a:t>？</a:t>
            </a:r>
          </a:p>
        </p:txBody>
      </p:sp>
      <p:cxnSp>
        <p:nvCxnSpPr>
          <p:cNvPr id="19" name="カギ線コネクタ 7"/>
          <p:cNvCxnSpPr>
            <a:stCxn id="17" idx="2"/>
            <a:endCxn id="40" idx="0"/>
          </p:cNvCxnSpPr>
          <p:nvPr/>
        </p:nvCxnSpPr>
        <p:spPr>
          <a:xfrm>
            <a:off x="6455263" y="3328905"/>
            <a:ext cx="3251" cy="215104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カギ線コネクタ 7"/>
          <p:cNvCxnSpPr>
            <a:stCxn id="40" idx="2"/>
            <a:endCxn id="51" idx="0"/>
          </p:cNvCxnSpPr>
          <p:nvPr/>
        </p:nvCxnSpPr>
        <p:spPr>
          <a:xfrm>
            <a:off x="6458514" y="3944119"/>
            <a:ext cx="3601" cy="253668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フローチャート : 判断 20"/>
          <p:cNvSpPr/>
          <p:nvPr/>
        </p:nvSpPr>
        <p:spPr>
          <a:xfrm>
            <a:off x="5824860" y="2154761"/>
            <a:ext cx="1266977" cy="476282"/>
          </a:xfrm>
          <a:prstGeom prst="flowChartDecisi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dirty="0"/>
              <a:t>？</a:t>
            </a:r>
            <a:endParaRPr kumimoji="1" lang="ja-JP" altLang="en-US" dirty="0" smtClean="0"/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6014024" y="2630330"/>
            <a:ext cx="401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 smtClean="0"/>
              <a:t>Yes</a:t>
            </a:r>
            <a:endParaRPr kumimoji="1" lang="ja-JP" altLang="en-US" sz="1200" dirty="0"/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7086502" y="2016261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 smtClean="0"/>
              <a:t>No</a:t>
            </a:r>
            <a:endParaRPr kumimoji="1" lang="ja-JP" altLang="en-US" sz="1200" dirty="0"/>
          </a:p>
        </p:txBody>
      </p:sp>
      <p:cxnSp>
        <p:nvCxnSpPr>
          <p:cNvPr id="37" name="カギ線コネクタ 7"/>
          <p:cNvCxnSpPr>
            <a:stCxn id="21" idx="2"/>
            <a:endCxn id="17" idx="0"/>
          </p:cNvCxnSpPr>
          <p:nvPr/>
        </p:nvCxnSpPr>
        <p:spPr>
          <a:xfrm flipH="1">
            <a:off x="6455263" y="2631043"/>
            <a:ext cx="3086" cy="297752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フローチャート: 処理 39"/>
          <p:cNvSpPr/>
          <p:nvPr/>
        </p:nvSpPr>
        <p:spPr>
          <a:xfrm>
            <a:off x="5810442" y="3544009"/>
            <a:ext cx="1296144" cy="400110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2000" dirty="0" smtClean="0"/>
              <a:t>？</a:t>
            </a:r>
          </a:p>
        </p:txBody>
      </p:sp>
      <p:sp>
        <p:nvSpPr>
          <p:cNvPr id="51" name="フローチャート : 判断 50"/>
          <p:cNvSpPr/>
          <p:nvPr/>
        </p:nvSpPr>
        <p:spPr>
          <a:xfrm>
            <a:off x="5828626" y="4197787"/>
            <a:ext cx="1266977" cy="476282"/>
          </a:xfrm>
          <a:prstGeom prst="flowChartDecisi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dirty="0"/>
              <a:t>？</a:t>
            </a:r>
            <a:endParaRPr kumimoji="1" lang="ja-JP" altLang="en-US" dirty="0" smtClean="0"/>
          </a:p>
        </p:txBody>
      </p:sp>
      <p:sp>
        <p:nvSpPr>
          <p:cNvPr id="55" name="フローチャート: 処理 54"/>
          <p:cNvSpPr/>
          <p:nvPr/>
        </p:nvSpPr>
        <p:spPr>
          <a:xfrm>
            <a:off x="5812242" y="4973280"/>
            <a:ext cx="1296144" cy="400110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2000" dirty="0" smtClean="0"/>
              <a:t>？</a:t>
            </a:r>
          </a:p>
        </p:txBody>
      </p:sp>
      <p:sp>
        <p:nvSpPr>
          <p:cNvPr id="58" name="フローチャート: 処理 57"/>
          <p:cNvSpPr/>
          <p:nvPr/>
        </p:nvSpPr>
        <p:spPr>
          <a:xfrm>
            <a:off x="7273334" y="4958907"/>
            <a:ext cx="1296144" cy="400110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2000" dirty="0" smtClean="0"/>
              <a:t>？</a:t>
            </a:r>
          </a:p>
        </p:txBody>
      </p:sp>
      <p:cxnSp>
        <p:nvCxnSpPr>
          <p:cNvPr id="70" name="カギ線コネクタ 7"/>
          <p:cNvCxnSpPr>
            <a:stCxn id="58" idx="2"/>
          </p:cNvCxnSpPr>
          <p:nvPr/>
        </p:nvCxnSpPr>
        <p:spPr>
          <a:xfrm rot="5400000">
            <a:off x="7099448" y="4721685"/>
            <a:ext cx="184627" cy="1459291"/>
          </a:xfrm>
          <a:prstGeom prst="bentConnector2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8472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解答例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7</a:t>
            </a:fld>
            <a:endParaRPr kumimoji="1" lang="ja-JP" altLang="en-US"/>
          </a:p>
        </p:txBody>
      </p:sp>
      <p:cxnSp>
        <p:nvCxnSpPr>
          <p:cNvPr id="6" name="カギ線コネクタ 7"/>
          <p:cNvCxnSpPr>
            <a:stCxn id="10" idx="2"/>
            <a:endCxn id="18" idx="0"/>
          </p:cNvCxnSpPr>
          <p:nvPr/>
        </p:nvCxnSpPr>
        <p:spPr>
          <a:xfrm>
            <a:off x="2882153" y="1751920"/>
            <a:ext cx="3085" cy="402841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カギ線コネクタ 7"/>
          <p:cNvCxnSpPr>
            <a:stCxn id="23" idx="2"/>
            <a:endCxn id="24" idx="0"/>
          </p:cNvCxnSpPr>
          <p:nvPr/>
        </p:nvCxnSpPr>
        <p:spPr>
          <a:xfrm>
            <a:off x="2886727" y="4674069"/>
            <a:ext cx="478" cy="299211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カギ線コネクタ 7"/>
          <p:cNvCxnSpPr>
            <a:stCxn id="23" idx="3"/>
            <a:endCxn id="25" idx="0"/>
          </p:cNvCxnSpPr>
          <p:nvPr/>
        </p:nvCxnSpPr>
        <p:spPr>
          <a:xfrm>
            <a:off x="3966847" y="4435928"/>
            <a:ext cx="1590906" cy="553803"/>
          </a:xfrm>
          <a:prstGeom prst="bentConnector2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カギ線コネクタ 7"/>
          <p:cNvCxnSpPr>
            <a:stCxn id="24" idx="2"/>
            <a:endCxn id="18" idx="0"/>
          </p:cNvCxnSpPr>
          <p:nvPr/>
        </p:nvCxnSpPr>
        <p:spPr>
          <a:xfrm rot="5400000" flipH="1">
            <a:off x="1276907" y="3763093"/>
            <a:ext cx="3218629" cy="1967"/>
          </a:xfrm>
          <a:prstGeom prst="bentConnector5">
            <a:avLst>
              <a:gd name="adj1" fmla="val -10987"/>
              <a:gd name="adj2" fmla="val 74992171"/>
              <a:gd name="adj3" fmla="val 107102"/>
            </a:avLst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フローチャート : 端子 9"/>
          <p:cNvSpPr/>
          <p:nvPr/>
        </p:nvSpPr>
        <p:spPr>
          <a:xfrm>
            <a:off x="2223025" y="1340768"/>
            <a:ext cx="1318255" cy="411152"/>
          </a:xfrm>
          <a:prstGeom prst="flowChartTermina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600" dirty="0" smtClean="0"/>
              <a:t>開始</a:t>
            </a:r>
          </a:p>
        </p:txBody>
      </p:sp>
      <p:sp>
        <p:nvSpPr>
          <p:cNvPr id="11" name="フローチャート : 端子 10"/>
          <p:cNvSpPr/>
          <p:nvPr/>
        </p:nvSpPr>
        <p:spPr>
          <a:xfrm>
            <a:off x="2249338" y="6237312"/>
            <a:ext cx="1318255" cy="411152"/>
          </a:xfrm>
          <a:prstGeom prst="flowChartTermina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600" dirty="0" smtClean="0"/>
              <a:t>終了</a:t>
            </a:r>
          </a:p>
        </p:txBody>
      </p:sp>
      <p:cxnSp>
        <p:nvCxnSpPr>
          <p:cNvPr id="12" name="カギ線コネクタ 7"/>
          <p:cNvCxnSpPr>
            <a:stCxn id="18" idx="3"/>
            <a:endCxn id="11" idx="0"/>
          </p:cNvCxnSpPr>
          <p:nvPr/>
        </p:nvCxnSpPr>
        <p:spPr>
          <a:xfrm flipH="1">
            <a:off x="2908466" y="2392902"/>
            <a:ext cx="610260" cy="3844410"/>
          </a:xfrm>
          <a:prstGeom prst="bentConnector4">
            <a:avLst>
              <a:gd name="adj1" fmla="val -568935"/>
              <a:gd name="adj2" fmla="val 92129"/>
            </a:avLst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2441612" y="4674069"/>
            <a:ext cx="401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 smtClean="0"/>
              <a:t>Yes</a:t>
            </a:r>
            <a:endParaRPr kumimoji="1" lang="ja-JP" altLang="en-US" sz="1200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633375" y="4088105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 smtClean="0"/>
              <a:t>No</a:t>
            </a:r>
            <a:endParaRPr kumimoji="1" lang="ja-JP" altLang="en-US" sz="1200" dirty="0"/>
          </a:p>
        </p:txBody>
      </p:sp>
      <p:sp>
        <p:nvSpPr>
          <p:cNvPr id="15" name="フローチャート: 処理 14"/>
          <p:cNvSpPr/>
          <p:nvPr/>
        </p:nvSpPr>
        <p:spPr>
          <a:xfrm>
            <a:off x="2020377" y="2928795"/>
            <a:ext cx="1723550" cy="400110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2000" dirty="0" smtClean="0"/>
              <a:t>朝食を食べる</a:t>
            </a:r>
            <a:endParaRPr kumimoji="1" lang="ja-JP" altLang="en-US" sz="2000" dirty="0" smtClean="0"/>
          </a:p>
        </p:txBody>
      </p:sp>
      <p:cxnSp>
        <p:nvCxnSpPr>
          <p:cNvPr id="16" name="カギ線コネクタ 7"/>
          <p:cNvCxnSpPr>
            <a:stCxn id="15" idx="2"/>
            <a:endCxn id="22" idx="0"/>
          </p:cNvCxnSpPr>
          <p:nvPr/>
        </p:nvCxnSpPr>
        <p:spPr>
          <a:xfrm>
            <a:off x="2882152" y="3328905"/>
            <a:ext cx="3251" cy="215104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カギ線コネクタ 7"/>
          <p:cNvCxnSpPr>
            <a:stCxn id="22" idx="2"/>
            <a:endCxn id="23" idx="0"/>
          </p:cNvCxnSpPr>
          <p:nvPr/>
        </p:nvCxnSpPr>
        <p:spPr>
          <a:xfrm>
            <a:off x="2885403" y="3944119"/>
            <a:ext cx="1324" cy="253668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フローチャート : 判断 17"/>
          <p:cNvSpPr/>
          <p:nvPr/>
        </p:nvSpPr>
        <p:spPr>
          <a:xfrm>
            <a:off x="2251749" y="2154761"/>
            <a:ext cx="1266977" cy="476282"/>
          </a:xfrm>
          <a:prstGeom prst="flowChartDecisi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dirty="0" smtClean="0"/>
              <a:t>平日？</a:t>
            </a:r>
            <a:endParaRPr kumimoji="1" lang="ja-JP" altLang="en-US" dirty="0" smtClean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2440913" y="2630330"/>
            <a:ext cx="401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 smtClean="0"/>
              <a:t>Yes</a:t>
            </a:r>
            <a:endParaRPr kumimoji="1" lang="ja-JP" altLang="en-US" sz="1200" dirty="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3513391" y="2016261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 smtClean="0"/>
              <a:t>No</a:t>
            </a:r>
            <a:endParaRPr kumimoji="1" lang="ja-JP" altLang="en-US" sz="1200" dirty="0"/>
          </a:p>
        </p:txBody>
      </p:sp>
      <p:cxnSp>
        <p:nvCxnSpPr>
          <p:cNvPr id="21" name="カギ線コネクタ 7"/>
          <p:cNvCxnSpPr>
            <a:stCxn id="18" idx="2"/>
            <a:endCxn id="15" idx="0"/>
          </p:cNvCxnSpPr>
          <p:nvPr/>
        </p:nvCxnSpPr>
        <p:spPr>
          <a:xfrm flipH="1">
            <a:off x="2882152" y="2631043"/>
            <a:ext cx="3086" cy="297752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フローチャート: 処理 21"/>
          <p:cNvSpPr/>
          <p:nvPr/>
        </p:nvSpPr>
        <p:spPr>
          <a:xfrm>
            <a:off x="2280108" y="3544009"/>
            <a:ext cx="1210589" cy="400110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2000" dirty="0" smtClean="0"/>
              <a:t>歯を磨く</a:t>
            </a:r>
            <a:endParaRPr kumimoji="1" lang="ja-JP" altLang="en-US" sz="2000" dirty="0" smtClean="0"/>
          </a:p>
        </p:txBody>
      </p:sp>
      <p:sp>
        <p:nvSpPr>
          <p:cNvPr id="23" name="フローチャート : 判断 22"/>
          <p:cNvSpPr/>
          <p:nvPr/>
        </p:nvSpPr>
        <p:spPr>
          <a:xfrm>
            <a:off x="1806607" y="4197787"/>
            <a:ext cx="2160240" cy="476282"/>
          </a:xfrm>
          <a:prstGeom prst="flowChartDecisi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dirty="0" smtClean="0"/>
              <a:t>雨が降っている</a:t>
            </a:r>
            <a:endParaRPr kumimoji="1" lang="ja-JP" altLang="en-US" dirty="0" smtClean="0"/>
          </a:p>
        </p:txBody>
      </p:sp>
      <p:sp>
        <p:nvSpPr>
          <p:cNvPr id="24" name="フローチャート: 処理 23"/>
          <p:cNvSpPr/>
          <p:nvPr/>
        </p:nvSpPr>
        <p:spPr>
          <a:xfrm>
            <a:off x="1640709" y="4973280"/>
            <a:ext cx="2492991" cy="400110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2000" dirty="0" smtClean="0"/>
              <a:t>傘を持って登校する</a:t>
            </a:r>
            <a:endParaRPr kumimoji="1" lang="ja-JP" altLang="en-US" sz="2000" dirty="0" smtClean="0"/>
          </a:p>
        </p:txBody>
      </p:sp>
      <p:sp>
        <p:nvSpPr>
          <p:cNvPr id="25" name="フローチャート: 処理 24"/>
          <p:cNvSpPr/>
          <p:nvPr/>
        </p:nvSpPr>
        <p:spPr>
          <a:xfrm>
            <a:off x="4311257" y="4989731"/>
            <a:ext cx="2492991" cy="400110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2000" dirty="0" smtClean="0"/>
              <a:t>傘を持たず登校する</a:t>
            </a:r>
            <a:endParaRPr kumimoji="1" lang="ja-JP" altLang="en-US" sz="2000" dirty="0" smtClean="0"/>
          </a:p>
        </p:txBody>
      </p:sp>
      <p:cxnSp>
        <p:nvCxnSpPr>
          <p:cNvPr id="26" name="カギ線コネクタ 7"/>
          <p:cNvCxnSpPr>
            <a:stCxn id="25" idx="2"/>
          </p:cNvCxnSpPr>
          <p:nvPr/>
        </p:nvCxnSpPr>
        <p:spPr>
          <a:xfrm rot="5400000">
            <a:off x="4140797" y="4157511"/>
            <a:ext cx="184626" cy="2649287"/>
          </a:xfrm>
          <a:prstGeom prst="bentConnector2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1750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練習</a:t>
            </a:r>
            <a:r>
              <a:rPr lang="en-US" altLang="ja-JP" dirty="0" smtClean="0"/>
              <a:t>1【</a:t>
            </a:r>
            <a:r>
              <a:rPr lang="ja-JP" altLang="en-US" dirty="0" smtClean="0"/>
              <a:t>前回</a:t>
            </a:r>
            <a:r>
              <a:rPr lang="en-US" altLang="ja-JP" dirty="0" smtClean="0"/>
              <a:t>】</a:t>
            </a:r>
            <a:r>
              <a:rPr lang="ja-JP" altLang="en-US" dirty="0" smtClean="0"/>
              <a:t>黒い線で停止する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268760"/>
            <a:ext cx="8435280" cy="4857403"/>
          </a:xfrm>
        </p:spPr>
        <p:txBody>
          <a:bodyPr>
            <a:normAutofit/>
          </a:bodyPr>
          <a:lstStyle/>
          <a:p>
            <a:r>
              <a:rPr lang="ja-JP" altLang="en-US" sz="2800" dirty="0" smtClean="0"/>
              <a:t>フローチャート</a:t>
            </a:r>
            <a:r>
              <a:rPr lang="ja-JP" altLang="en-US" sz="2800" dirty="0"/>
              <a:t>を作る</a:t>
            </a:r>
            <a:endParaRPr lang="en-US" altLang="ja-JP" sz="2800" dirty="0"/>
          </a:p>
          <a:p>
            <a:pPr marL="971550" lvl="1" indent="-514350">
              <a:buFont typeface="+mj-lt"/>
              <a:buAutoNum type="arabicPeriod"/>
            </a:pPr>
            <a:r>
              <a:rPr kumimoji="1" lang="ja-JP" altLang="en-US" sz="2400" dirty="0" smtClean="0"/>
              <a:t>前進する</a:t>
            </a:r>
            <a:endParaRPr lang="en-US" altLang="ja-JP" sz="2400" dirty="0"/>
          </a:p>
          <a:p>
            <a:pPr marL="971550" lvl="1" indent="-514350">
              <a:buFont typeface="+mj-lt"/>
              <a:buAutoNum type="arabicPeriod"/>
            </a:pPr>
            <a:r>
              <a:rPr lang="ja-JP" altLang="en-US" sz="2400" dirty="0" smtClean="0"/>
              <a:t>明るさが</a:t>
            </a:r>
            <a:r>
              <a:rPr lang="en-US" altLang="ja-JP" sz="2400" dirty="0" smtClean="0"/>
              <a:t>40</a:t>
            </a:r>
            <a:r>
              <a:rPr lang="ja-JP" altLang="en-US" sz="2400" dirty="0" smtClean="0"/>
              <a:t>より小さくなるまで待機する</a:t>
            </a:r>
            <a:endParaRPr lang="en-US" altLang="ja-JP" sz="2400" dirty="0" smtClean="0"/>
          </a:p>
          <a:p>
            <a:pPr marL="971550" lvl="1" indent="-514350">
              <a:buFont typeface="+mj-lt"/>
              <a:buAutoNum type="arabicPeriod"/>
            </a:pPr>
            <a:r>
              <a:rPr kumimoji="1" lang="ja-JP" altLang="en-US" sz="2400" dirty="0" smtClean="0"/>
              <a:t>停止する</a:t>
            </a:r>
            <a:endParaRPr kumimoji="1" lang="ja-JP" altLang="en-US" sz="24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8</a:t>
            </a:fld>
            <a:endParaRPr kumimoji="1" lang="ja-JP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7" t="42550" r="55714" b="44772"/>
          <a:stretch/>
        </p:blipFill>
        <p:spPr bwMode="auto">
          <a:xfrm>
            <a:off x="1267035" y="3900767"/>
            <a:ext cx="6609930" cy="1737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角丸四角形吹き出し 5"/>
          <p:cNvSpPr/>
          <p:nvPr/>
        </p:nvSpPr>
        <p:spPr>
          <a:xfrm>
            <a:off x="1475656" y="5661248"/>
            <a:ext cx="1887557" cy="1021556"/>
          </a:xfrm>
          <a:prstGeom prst="wedgeRoundRectCallout">
            <a:avLst>
              <a:gd name="adj1" fmla="val 37281"/>
              <a:gd name="adj2" fmla="val -75117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r>
              <a:rPr lang="ja-JP" altLang="en-US" dirty="0" smtClean="0"/>
              <a:t>移動ブロック</a:t>
            </a:r>
            <a:endParaRPr lang="en-US" altLang="ja-JP" dirty="0" smtClean="0"/>
          </a:p>
          <a:p>
            <a:r>
              <a:rPr lang="ja-JP" altLang="en-US" dirty="0" smtClean="0"/>
              <a:t>パワー：</a:t>
            </a:r>
            <a:r>
              <a:rPr lang="en-US" altLang="ja-JP" dirty="0" smtClean="0"/>
              <a:t>50</a:t>
            </a:r>
          </a:p>
          <a:p>
            <a:r>
              <a:rPr lang="ja-JP" altLang="en-US" dirty="0"/>
              <a:t>待機</a:t>
            </a:r>
            <a:r>
              <a:rPr lang="ja-JP" altLang="en-US" dirty="0" smtClean="0"/>
              <a:t>時間：無限</a:t>
            </a:r>
            <a:endParaRPr lang="en-US" altLang="ja-JP" dirty="0" smtClean="0"/>
          </a:p>
        </p:txBody>
      </p:sp>
      <p:sp>
        <p:nvSpPr>
          <p:cNvPr id="7" name="角丸四角形吹き出し 6"/>
          <p:cNvSpPr/>
          <p:nvPr/>
        </p:nvSpPr>
        <p:spPr>
          <a:xfrm>
            <a:off x="6084168" y="5814481"/>
            <a:ext cx="1630382" cy="715089"/>
          </a:xfrm>
          <a:prstGeom prst="wedgeRoundRectCallout">
            <a:avLst>
              <a:gd name="adj1" fmla="val -19494"/>
              <a:gd name="adj2" fmla="val -115184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r>
              <a:rPr lang="ja-JP" altLang="en-US" dirty="0" smtClean="0"/>
              <a:t>移動ブロック</a:t>
            </a:r>
            <a:endParaRPr lang="en-US" altLang="ja-JP" dirty="0" smtClean="0"/>
          </a:p>
          <a:p>
            <a:r>
              <a:rPr lang="ja-JP" altLang="en-US" dirty="0" smtClean="0"/>
              <a:t>方向：停止</a:t>
            </a:r>
            <a:endParaRPr lang="en-US" altLang="ja-JP" dirty="0" smtClean="0"/>
          </a:p>
        </p:txBody>
      </p:sp>
      <p:sp>
        <p:nvSpPr>
          <p:cNvPr id="8" name="角丸四角形吹き出し 7"/>
          <p:cNvSpPr/>
          <p:nvPr/>
        </p:nvSpPr>
        <p:spPr>
          <a:xfrm>
            <a:off x="3851920" y="5814480"/>
            <a:ext cx="1715299" cy="715089"/>
          </a:xfrm>
          <a:prstGeom prst="wedgeRoundRectCallout">
            <a:avLst>
              <a:gd name="adj1" fmla="val 21288"/>
              <a:gd name="adj2" fmla="val -112058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r>
              <a:rPr lang="ja-JP" altLang="en-US" dirty="0" smtClean="0"/>
              <a:t>待機ブロック</a:t>
            </a:r>
            <a:endParaRPr lang="en-US" altLang="ja-JP" dirty="0" smtClean="0"/>
          </a:p>
          <a:p>
            <a:r>
              <a:rPr lang="ja-JP" altLang="en-US" dirty="0" smtClean="0"/>
              <a:t>～まで：＜ </a:t>
            </a:r>
            <a:r>
              <a:rPr lang="en-US" altLang="ja-JP" dirty="0" smtClean="0"/>
              <a:t>40</a:t>
            </a:r>
          </a:p>
        </p:txBody>
      </p:sp>
      <p:sp>
        <p:nvSpPr>
          <p:cNvPr id="12" name="右矢印 11"/>
          <p:cNvSpPr/>
          <p:nvPr/>
        </p:nvSpPr>
        <p:spPr>
          <a:xfrm>
            <a:off x="2921962" y="3068960"/>
            <a:ext cx="3816424" cy="679117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2000" dirty="0" smtClean="0"/>
              <a:t>命</a:t>
            </a:r>
            <a:r>
              <a:rPr lang="ja-JP" altLang="en-US" sz="2000" dirty="0"/>
              <a:t>　</a:t>
            </a:r>
            <a:r>
              <a:rPr kumimoji="1" lang="ja-JP" altLang="en-US" sz="2000" dirty="0" smtClean="0"/>
              <a:t>令　の　流　れ</a:t>
            </a:r>
          </a:p>
        </p:txBody>
      </p:sp>
    </p:spTree>
    <p:extLst>
      <p:ext uri="{BB962C8B-B14F-4D97-AF65-F5344CB8AC3E}">
        <p14:creationId xmlns:p14="http://schemas.microsoft.com/office/powerpoint/2010/main" val="2452709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練習１ フローチャート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5" name="フローチャート : 端子 4"/>
          <p:cNvSpPr/>
          <p:nvPr/>
        </p:nvSpPr>
        <p:spPr>
          <a:xfrm>
            <a:off x="3662798" y="1196752"/>
            <a:ext cx="1296144" cy="567089"/>
          </a:xfrm>
          <a:prstGeom prst="flowChartTermina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3200" dirty="0" smtClean="0"/>
              <a:t>開始</a:t>
            </a:r>
            <a:endParaRPr kumimoji="1" lang="ja-JP" altLang="en-US" sz="3200" dirty="0"/>
          </a:p>
        </p:txBody>
      </p:sp>
      <p:sp>
        <p:nvSpPr>
          <p:cNvPr id="6" name="フローチャート: 処理 5"/>
          <p:cNvSpPr/>
          <p:nvPr/>
        </p:nvSpPr>
        <p:spPr>
          <a:xfrm>
            <a:off x="3397799" y="2135920"/>
            <a:ext cx="1826142" cy="584775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3200" dirty="0"/>
              <a:t>前進する</a:t>
            </a:r>
            <a:endParaRPr kumimoji="1" lang="ja-JP" altLang="en-US" sz="3200" dirty="0" smtClean="0"/>
          </a:p>
        </p:txBody>
      </p:sp>
      <p:cxnSp>
        <p:nvCxnSpPr>
          <p:cNvPr id="8" name="カギ線コネクタ 7"/>
          <p:cNvCxnSpPr>
            <a:stCxn id="5" idx="2"/>
            <a:endCxn id="6" idx="0"/>
          </p:cNvCxnSpPr>
          <p:nvPr/>
        </p:nvCxnSpPr>
        <p:spPr>
          <a:xfrm>
            <a:off x="4310870" y="1763841"/>
            <a:ext cx="0" cy="372079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フローチャート: 処理 12"/>
          <p:cNvSpPr/>
          <p:nvPr/>
        </p:nvSpPr>
        <p:spPr>
          <a:xfrm>
            <a:off x="1961509" y="3315181"/>
            <a:ext cx="4698722" cy="1077218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3200" dirty="0"/>
              <a:t>明るさが</a:t>
            </a:r>
            <a:r>
              <a:rPr lang="en-US" altLang="ja-JP" sz="3200" dirty="0"/>
              <a:t>40</a:t>
            </a:r>
            <a:r>
              <a:rPr lang="ja-JP" altLang="en-US" sz="3200" dirty="0" smtClean="0"/>
              <a:t>より</a:t>
            </a:r>
            <a:endParaRPr lang="en-US" altLang="ja-JP" sz="3200" dirty="0" smtClean="0"/>
          </a:p>
          <a:p>
            <a:pPr algn="ctr"/>
            <a:r>
              <a:rPr lang="ja-JP" altLang="en-US" sz="3200" dirty="0" smtClean="0"/>
              <a:t>小さく</a:t>
            </a:r>
            <a:r>
              <a:rPr lang="ja-JP" altLang="en-US" sz="3200" dirty="0"/>
              <a:t>なるまで待機</a:t>
            </a:r>
            <a:r>
              <a:rPr lang="ja-JP" altLang="en-US" sz="3200" dirty="0" smtClean="0"/>
              <a:t>する</a:t>
            </a:r>
            <a:endParaRPr lang="ja-JP" altLang="en-US" sz="3200" dirty="0"/>
          </a:p>
        </p:txBody>
      </p:sp>
      <p:cxnSp>
        <p:nvCxnSpPr>
          <p:cNvPr id="14" name="カギ線コネクタ 13"/>
          <p:cNvCxnSpPr>
            <a:endCxn id="13" idx="0"/>
          </p:cNvCxnSpPr>
          <p:nvPr/>
        </p:nvCxnSpPr>
        <p:spPr>
          <a:xfrm>
            <a:off x="4310870" y="2720695"/>
            <a:ext cx="0" cy="594486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カギ線コネクタ 18"/>
          <p:cNvCxnSpPr>
            <a:stCxn id="13" idx="2"/>
            <a:endCxn id="20" idx="0"/>
          </p:cNvCxnSpPr>
          <p:nvPr/>
        </p:nvCxnSpPr>
        <p:spPr>
          <a:xfrm>
            <a:off x="4310870" y="4392399"/>
            <a:ext cx="0" cy="548769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フローチャート: 処理 19"/>
          <p:cNvSpPr/>
          <p:nvPr/>
        </p:nvSpPr>
        <p:spPr>
          <a:xfrm>
            <a:off x="3397799" y="4941168"/>
            <a:ext cx="1826142" cy="584775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3200" dirty="0" smtClean="0"/>
              <a:t>停止する</a:t>
            </a:r>
            <a:endParaRPr kumimoji="1" lang="ja-JP" altLang="en-US" sz="3200" dirty="0" smtClean="0"/>
          </a:p>
        </p:txBody>
      </p:sp>
      <p:sp>
        <p:nvSpPr>
          <p:cNvPr id="24" name="フローチャート : 端子 23"/>
          <p:cNvSpPr/>
          <p:nvPr/>
        </p:nvSpPr>
        <p:spPr>
          <a:xfrm>
            <a:off x="3662798" y="5949280"/>
            <a:ext cx="1296144" cy="567089"/>
          </a:xfrm>
          <a:prstGeom prst="flowChartTermina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3200" dirty="0" smtClean="0"/>
              <a:t>終了</a:t>
            </a:r>
            <a:endParaRPr kumimoji="1" lang="ja-JP" altLang="en-US" sz="3200" dirty="0"/>
          </a:p>
        </p:txBody>
      </p:sp>
      <p:cxnSp>
        <p:nvCxnSpPr>
          <p:cNvPr id="25" name="カギ線コネクタ 24"/>
          <p:cNvCxnSpPr/>
          <p:nvPr/>
        </p:nvCxnSpPr>
        <p:spPr>
          <a:xfrm>
            <a:off x="4310870" y="5525943"/>
            <a:ext cx="0" cy="42333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106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 smtClean="0"/>
              <a:t>練習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【</a:t>
            </a:r>
            <a:r>
              <a:rPr kumimoji="1" lang="ja-JP" altLang="en-US" dirty="0" smtClean="0"/>
              <a:t>前回</a:t>
            </a:r>
            <a:r>
              <a:rPr kumimoji="1" lang="en-US" altLang="ja-JP" dirty="0" smtClean="0"/>
              <a:t>】</a:t>
            </a:r>
            <a:r>
              <a:rPr lang="ja-JP" altLang="en-US" dirty="0" smtClean="0"/>
              <a:t>黒い線の内側で走行する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268760"/>
            <a:ext cx="8686800" cy="4857403"/>
          </a:xfrm>
        </p:spPr>
        <p:txBody>
          <a:bodyPr/>
          <a:lstStyle/>
          <a:p>
            <a:r>
              <a:rPr lang="ja-JP" altLang="en-US" dirty="0" smtClean="0"/>
              <a:t>フローチャート</a:t>
            </a:r>
            <a:r>
              <a:rPr lang="ja-JP" altLang="en-US" dirty="0"/>
              <a:t>を作る</a:t>
            </a:r>
            <a:endParaRPr lang="en-US" altLang="ja-JP" dirty="0"/>
          </a:p>
          <a:p>
            <a:pPr lvl="1"/>
            <a:r>
              <a:rPr lang="ja-JP" altLang="en-US" dirty="0"/>
              <a:t>以下の命令を永久に繰り返す</a:t>
            </a:r>
            <a:endParaRPr lang="en-US" altLang="ja-JP" dirty="0"/>
          </a:p>
          <a:p>
            <a:pPr lvl="2"/>
            <a:r>
              <a:rPr lang="ja-JP" altLang="en-US" dirty="0" smtClean="0"/>
              <a:t>光センサーがしきい値より</a:t>
            </a:r>
            <a:r>
              <a:rPr lang="ja-JP" altLang="en-US" dirty="0"/>
              <a:t>大きい場合は直進する</a:t>
            </a:r>
            <a:endParaRPr lang="en-US" altLang="ja-JP" dirty="0"/>
          </a:p>
          <a:p>
            <a:pPr lvl="2"/>
            <a:r>
              <a:rPr lang="ja-JP" altLang="en-US" dirty="0"/>
              <a:t>それ以外の場合</a:t>
            </a:r>
            <a:r>
              <a:rPr lang="ja-JP" altLang="en-US" dirty="0" smtClean="0"/>
              <a:t>は左旋回</a:t>
            </a:r>
            <a:r>
              <a:rPr lang="ja-JP" altLang="en-US" dirty="0"/>
              <a:t>する</a:t>
            </a:r>
          </a:p>
          <a:p>
            <a:r>
              <a:rPr kumimoji="1" lang="ja-JP" altLang="en-US" dirty="0" smtClean="0"/>
              <a:t>白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10</a:t>
            </a:fld>
            <a:endParaRPr kumimoji="1" lang="ja-JP" alt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287789"/>
            <a:ext cx="3911302" cy="3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角丸四角形吹き出し 5"/>
          <p:cNvSpPr/>
          <p:nvPr/>
        </p:nvSpPr>
        <p:spPr>
          <a:xfrm>
            <a:off x="251520" y="3359798"/>
            <a:ext cx="2589431" cy="1021556"/>
          </a:xfrm>
          <a:prstGeom prst="wedgeRoundRectCallout">
            <a:avLst>
              <a:gd name="adj1" fmla="val 79242"/>
              <a:gd name="adj2" fmla="val 74608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dirty="0" smtClean="0"/>
              <a:t>スイッチ：光センサー</a:t>
            </a:r>
            <a:endParaRPr kumimoji="1" lang="en-US" altLang="ja-JP" dirty="0" smtClean="0"/>
          </a:p>
          <a:p>
            <a:pPr algn="ctr"/>
            <a:r>
              <a:rPr lang="ja-JP" altLang="en-US" dirty="0" smtClean="0"/>
              <a:t>比較　＞</a:t>
            </a:r>
            <a:r>
              <a:rPr lang="en-US" altLang="ja-JP" dirty="0" smtClean="0"/>
              <a:t> </a:t>
            </a:r>
            <a:r>
              <a:rPr lang="ja-JP" altLang="en-US" dirty="0" smtClean="0"/>
              <a:t>？？</a:t>
            </a:r>
            <a:endParaRPr lang="en-US" altLang="ja-JP" dirty="0" smtClean="0"/>
          </a:p>
          <a:p>
            <a:pPr algn="ctr"/>
            <a:r>
              <a:rPr kumimoji="1" lang="en-US" altLang="ja-JP" dirty="0" smtClean="0"/>
              <a:t>(</a:t>
            </a:r>
            <a:r>
              <a:rPr kumimoji="1" lang="ja-JP" altLang="en-US" dirty="0" smtClean="0"/>
              <a:t>値はグループで調整</a:t>
            </a:r>
            <a:r>
              <a:rPr kumimoji="1" lang="en-US" altLang="ja-JP" dirty="0" smtClean="0"/>
              <a:t>)</a:t>
            </a:r>
            <a:endParaRPr kumimoji="1" lang="ja-JP" altLang="en-US" dirty="0"/>
          </a:p>
        </p:txBody>
      </p:sp>
      <p:sp>
        <p:nvSpPr>
          <p:cNvPr id="7" name="角丸四角形吹き出し 6"/>
          <p:cNvSpPr/>
          <p:nvPr/>
        </p:nvSpPr>
        <p:spPr>
          <a:xfrm>
            <a:off x="6156176" y="3431806"/>
            <a:ext cx="2149867" cy="1021556"/>
          </a:xfrm>
          <a:prstGeom prst="wedgeRoundRectCallout">
            <a:avLst>
              <a:gd name="adj1" fmla="val -77591"/>
              <a:gd name="adj2" fmla="val 22585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r>
              <a:rPr lang="ja-JP" altLang="en-US" dirty="0" smtClean="0"/>
              <a:t>直進する</a:t>
            </a:r>
          </a:p>
          <a:p>
            <a:r>
              <a:rPr kumimoji="1" lang="ja-JP" altLang="en-US" dirty="0" smtClean="0"/>
              <a:t>　パワー：</a:t>
            </a:r>
            <a:r>
              <a:rPr kumimoji="1" lang="en-US" altLang="ja-JP" dirty="0" smtClean="0"/>
              <a:t>20</a:t>
            </a:r>
            <a:r>
              <a:rPr kumimoji="1" lang="ja-JP" altLang="en-US" dirty="0" smtClean="0"/>
              <a:t>～</a:t>
            </a:r>
            <a:r>
              <a:rPr kumimoji="1" lang="en-US" altLang="ja-JP" dirty="0" smtClean="0"/>
              <a:t>50</a:t>
            </a:r>
          </a:p>
          <a:p>
            <a:r>
              <a:rPr kumimoji="1" lang="ja-JP" altLang="en-US" dirty="0" smtClean="0"/>
              <a:t>　待機時間：無限</a:t>
            </a:r>
            <a:endParaRPr kumimoji="1" lang="ja-JP" altLang="en-US" dirty="0"/>
          </a:p>
        </p:txBody>
      </p:sp>
      <p:sp>
        <p:nvSpPr>
          <p:cNvPr id="8" name="角丸四角形吹き出し 7"/>
          <p:cNvSpPr/>
          <p:nvPr/>
        </p:nvSpPr>
        <p:spPr>
          <a:xfrm>
            <a:off x="6190416" y="4655942"/>
            <a:ext cx="2613541" cy="1328023"/>
          </a:xfrm>
          <a:prstGeom prst="wedgeRoundRectCallout">
            <a:avLst>
              <a:gd name="adj1" fmla="val -73305"/>
              <a:gd name="adj2" fmla="val 16895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r>
              <a:rPr lang="ja-JP" altLang="en-US" dirty="0" smtClean="0"/>
              <a:t>左旋回する</a:t>
            </a:r>
            <a:endParaRPr lang="en-US" altLang="ja-JP" dirty="0" smtClean="0"/>
          </a:p>
          <a:p>
            <a:r>
              <a:rPr lang="ja-JP" altLang="en-US" dirty="0"/>
              <a:t>　</a:t>
            </a:r>
            <a:r>
              <a:rPr lang="ja-JP" altLang="en-US" dirty="0" smtClean="0"/>
              <a:t>ステアリング：左端</a:t>
            </a:r>
            <a:endParaRPr lang="en-US" altLang="ja-JP" dirty="0" smtClean="0"/>
          </a:p>
          <a:p>
            <a:r>
              <a:rPr kumimoji="1" lang="ja-JP" altLang="en-US" dirty="0" smtClean="0"/>
              <a:t>　パワー：</a:t>
            </a:r>
            <a:r>
              <a:rPr kumimoji="1" lang="en-US" altLang="ja-JP" dirty="0" smtClean="0"/>
              <a:t>20</a:t>
            </a:r>
            <a:r>
              <a:rPr kumimoji="1" lang="ja-JP" altLang="en-US" dirty="0" smtClean="0"/>
              <a:t>～</a:t>
            </a:r>
            <a:r>
              <a:rPr kumimoji="1" lang="en-US" altLang="ja-JP" dirty="0" smtClean="0"/>
              <a:t>50</a:t>
            </a:r>
          </a:p>
          <a:p>
            <a:r>
              <a:rPr kumimoji="1" lang="ja-JP" altLang="en-US" dirty="0" smtClean="0"/>
              <a:t>　待機時間：無限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77719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練習</a:t>
            </a:r>
            <a:r>
              <a:rPr lang="en-US" altLang="ja-JP" dirty="0"/>
              <a:t>2</a:t>
            </a:r>
            <a:r>
              <a:rPr lang="ja-JP" altLang="en-US" dirty="0"/>
              <a:t>　フローチャート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5" name="フローチャート : 端子 4"/>
          <p:cNvSpPr/>
          <p:nvPr/>
        </p:nvSpPr>
        <p:spPr>
          <a:xfrm>
            <a:off x="2413849" y="1340768"/>
            <a:ext cx="1296144" cy="567089"/>
          </a:xfrm>
          <a:prstGeom prst="flowChartTermina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3200" dirty="0" smtClean="0"/>
              <a:t>開始</a:t>
            </a:r>
            <a:endParaRPr kumimoji="1" lang="ja-JP" altLang="en-US" sz="3200" dirty="0"/>
          </a:p>
        </p:txBody>
      </p:sp>
      <p:cxnSp>
        <p:nvCxnSpPr>
          <p:cNvPr id="7" name="カギ線コネクタ 6"/>
          <p:cNvCxnSpPr>
            <a:stCxn id="5" idx="2"/>
            <a:endCxn id="14" idx="0"/>
          </p:cNvCxnSpPr>
          <p:nvPr/>
        </p:nvCxnSpPr>
        <p:spPr>
          <a:xfrm rot="5400000">
            <a:off x="2840538" y="2127496"/>
            <a:ext cx="441023" cy="1745"/>
          </a:xfrm>
          <a:prstGeom prst="bentConnector3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フローチャート: 処理 7"/>
          <p:cNvSpPr/>
          <p:nvPr/>
        </p:nvSpPr>
        <p:spPr>
          <a:xfrm>
            <a:off x="2148853" y="4222014"/>
            <a:ext cx="1826142" cy="584775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3200" dirty="0" smtClean="0"/>
              <a:t>直進する</a:t>
            </a:r>
            <a:endParaRPr kumimoji="1" lang="en-US" altLang="ja-JP" sz="3200" dirty="0" smtClean="0"/>
          </a:p>
        </p:txBody>
      </p:sp>
      <p:cxnSp>
        <p:nvCxnSpPr>
          <p:cNvPr id="10" name="カギ線コネクタ 9"/>
          <p:cNvCxnSpPr>
            <a:stCxn id="8" idx="2"/>
            <a:endCxn id="14" idx="0"/>
          </p:cNvCxnSpPr>
          <p:nvPr/>
        </p:nvCxnSpPr>
        <p:spPr>
          <a:xfrm rot="5400000" flipH="1">
            <a:off x="1832095" y="3576961"/>
            <a:ext cx="2457909" cy="1748"/>
          </a:xfrm>
          <a:prstGeom prst="bentConnector5">
            <a:avLst>
              <a:gd name="adj1" fmla="val -48093"/>
              <a:gd name="adj2" fmla="val 109082838"/>
              <a:gd name="adj3" fmla="val 109301"/>
            </a:avLst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フローチャート : 判断 13"/>
          <p:cNvSpPr/>
          <p:nvPr/>
        </p:nvSpPr>
        <p:spPr>
          <a:xfrm>
            <a:off x="1383756" y="2348880"/>
            <a:ext cx="3352840" cy="1161633"/>
          </a:xfrm>
          <a:prstGeom prst="flowChartDecisi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2000" dirty="0" smtClean="0"/>
              <a:t>光センサー ＞しきい値</a:t>
            </a:r>
            <a:endParaRPr kumimoji="1" lang="ja-JP" altLang="en-US" sz="2000" dirty="0" smtClean="0"/>
          </a:p>
        </p:txBody>
      </p:sp>
      <p:sp>
        <p:nvSpPr>
          <p:cNvPr id="17" name="フローチャート: 処理 16"/>
          <p:cNvSpPr/>
          <p:nvPr/>
        </p:nvSpPr>
        <p:spPr>
          <a:xfrm>
            <a:off x="4207698" y="4222013"/>
            <a:ext cx="2236510" cy="584775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3200" dirty="0" smtClean="0"/>
              <a:t>左旋回</a:t>
            </a:r>
            <a:r>
              <a:rPr kumimoji="1" lang="ja-JP" altLang="en-US" sz="3200" dirty="0" smtClean="0"/>
              <a:t>する</a:t>
            </a:r>
            <a:endParaRPr kumimoji="1" lang="en-US" altLang="ja-JP" sz="3200" dirty="0" smtClean="0"/>
          </a:p>
        </p:txBody>
      </p:sp>
      <p:cxnSp>
        <p:nvCxnSpPr>
          <p:cNvPr id="18" name="カギ線コネクタ 17"/>
          <p:cNvCxnSpPr>
            <a:stCxn id="14" idx="2"/>
            <a:endCxn id="8" idx="0"/>
          </p:cNvCxnSpPr>
          <p:nvPr/>
        </p:nvCxnSpPr>
        <p:spPr>
          <a:xfrm rot="16200000" flipH="1">
            <a:off x="2705300" y="3865389"/>
            <a:ext cx="711501" cy="1748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カギ線コネクタ 20"/>
          <p:cNvCxnSpPr>
            <a:stCxn id="14" idx="3"/>
            <a:endCxn id="17" idx="0"/>
          </p:cNvCxnSpPr>
          <p:nvPr/>
        </p:nvCxnSpPr>
        <p:spPr>
          <a:xfrm>
            <a:off x="4736596" y="2929697"/>
            <a:ext cx="589357" cy="1292316"/>
          </a:xfrm>
          <a:prstGeom prst="bentConnector2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/>
          <p:cNvSpPr txBox="1"/>
          <p:nvPr/>
        </p:nvSpPr>
        <p:spPr>
          <a:xfrm>
            <a:off x="2429096" y="3510513"/>
            <a:ext cx="510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Yes</a:t>
            </a:r>
            <a:endParaRPr kumimoji="1" lang="ja-JP" altLang="en-US" dirty="0"/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4639746" y="2560364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No</a:t>
            </a:r>
            <a:endParaRPr kumimoji="1" lang="ja-JP" altLang="en-US" dirty="0"/>
          </a:p>
        </p:txBody>
      </p:sp>
      <p:cxnSp>
        <p:nvCxnSpPr>
          <p:cNvPr id="34" name="カギ線コネクタ 33"/>
          <p:cNvCxnSpPr>
            <a:stCxn id="17" idx="2"/>
          </p:cNvCxnSpPr>
          <p:nvPr/>
        </p:nvCxnSpPr>
        <p:spPr>
          <a:xfrm rot="5400000">
            <a:off x="3837842" y="4029121"/>
            <a:ext cx="710444" cy="2265778"/>
          </a:xfrm>
          <a:prstGeom prst="bentConnector2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77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橋本研究室配色パターン１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橋本研究室">
      <a:majorFont>
        <a:latin typeface="Segoe UI"/>
        <a:ea typeface="メイリオ"/>
        <a:cs typeface=""/>
      </a:majorFont>
      <a:minorFont>
        <a:latin typeface="Segoe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spAutoFit/>
      </a:bodyPr>
      <a:lstStyle>
        <a:defPPr algn="ctr">
          <a:defRPr kumimoji="1" sz="3200" dirty="0" smtClean="0"/>
        </a:defPPr>
      </a:lstStyle>
      <a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a:style>
    </a:spDef>
    <a:lnDef>
      <a:spPr>
        <a:ln w="38100">
          <a:solidFill>
            <a:schemeClr val="accent2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研究室プレゼンテンプレート</Template>
  <TotalTime>1301</TotalTime>
  <Words>342</Words>
  <Application>Microsoft Office PowerPoint</Application>
  <PresentationFormat>画面に合わせる (4:3)</PresentationFormat>
  <Paragraphs>134</Paragraphs>
  <Slides>11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2" baseType="lpstr">
      <vt:lpstr>Office テーマ</vt:lpstr>
      <vt:lpstr>フローチャート解答例</vt:lpstr>
      <vt:lpstr>練習 順次のフローチャートを書く</vt:lpstr>
      <vt:lpstr>解答例</vt:lpstr>
      <vt:lpstr>練習 条件分岐のフローチャートを書く</vt:lpstr>
      <vt:lpstr>解答例</vt:lpstr>
      <vt:lpstr>練習 繰り返しのフローチャートを書く</vt:lpstr>
      <vt:lpstr>解答例</vt:lpstr>
      <vt:lpstr>練習1【前回】黒い線で停止する</vt:lpstr>
      <vt:lpstr>練習１ フローチャート</vt:lpstr>
      <vt:lpstr>練習2 【前回】黒い線の内側で走行する</vt:lpstr>
      <vt:lpstr>練習2　フローチャート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レゴブロックを使った ロボットプログラミング</dc:title>
  <dc:creator>橋本恭能</dc:creator>
  <cp:lastModifiedBy>橋本恭能</cp:lastModifiedBy>
  <cp:revision>182</cp:revision>
  <cp:lastPrinted>2014-06-03T10:02:47Z</cp:lastPrinted>
  <dcterms:created xsi:type="dcterms:W3CDTF">2014-05-26T07:27:01Z</dcterms:created>
  <dcterms:modified xsi:type="dcterms:W3CDTF">2016-06-14T01:07:36Z</dcterms:modified>
</cp:coreProperties>
</file>